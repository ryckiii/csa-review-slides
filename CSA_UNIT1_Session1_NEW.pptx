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handoutMasterIdLst>
    <p:handoutMasterId r:id="rId54"/>
  </p:handoutMasterIdLst>
  <p:sldIdLst>
    <p:sldId id="256" r:id="rId2"/>
    <p:sldId id="257" r:id="rId3"/>
    <p:sldId id="258" r:id="rId4"/>
    <p:sldId id="259" r:id="rId5"/>
    <p:sldId id="260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39" r:id="rId28"/>
    <p:sldId id="340" r:id="rId29"/>
    <p:sldId id="341" r:id="rId30"/>
    <p:sldId id="342" r:id="rId31"/>
    <p:sldId id="343" r:id="rId32"/>
    <p:sldId id="344" r:id="rId33"/>
    <p:sldId id="345" r:id="rId34"/>
    <p:sldId id="346" r:id="rId35"/>
    <p:sldId id="347" r:id="rId36"/>
    <p:sldId id="348" r:id="rId37"/>
    <p:sldId id="349" r:id="rId38"/>
    <p:sldId id="350" r:id="rId39"/>
    <p:sldId id="351" r:id="rId40"/>
    <p:sldId id="352" r:id="rId41"/>
    <p:sldId id="353" r:id="rId42"/>
    <p:sldId id="354" r:id="rId43"/>
    <p:sldId id="355" r:id="rId44"/>
    <p:sldId id="356" r:id="rId45"/>
    <p:sldId id="357" r:id="rId46"/>
    <p:sldId id="358" r:id="rId47"/>
    <p:sldId id="359" r:id="rId48"/>
    <p:sldId id="360" r:id="rId49"/>
    <p:sldId id="361" r:id="rId50"/>
    <p:sldId id="362" r:id="rId51"/>
    <p:sldId id="363" r:id="rId52"/>
  </p:sldIdLst>
  <p:sldSz cx="12801600" cy="6400800"/>
  <p:notesSz cx="6858000" cy="9144000"/>
  <p:defaultTextStyle>
    <a:defPPr>
      <a:defRPr lang="zh-CN"/>
    </a:defPPr>
    <a:lvl1pPr marL="0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1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22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83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43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04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65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26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86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02" autoAdjust="0"/>
  </p:normalViewPr>
  <p:slideViewPr>
    <p:cSldViewPr>
      <p:cViewPr varScale="1">
        <p:scale>
          <a:sx n="70" d="100"/>
          <a:sy n="70" d="100"/>
        </p:scale>
        <p:origin x="-348" y="-60"/>
      </p:cViewPr>
      <p:guideLst>
        <p:guide orient="horz" pos="2016"/>
        <p:guide pos="4032"/>
      </p:guideLst>
    </p:cSldViewPr>
  </p:slideViewPr>
  <p:outlineViewPr>
    <p:cViewPr>
      <p:scale>
        <a:sx n="33" d="100"/>
        <a:sy n="33" d="100"/>
      </p:scale>
      <p:origin x="0" y="2766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-2664" y="-6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4806B-6C69-44F5-A0B5-00896F9CC841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45E02-A950-4239-9FA7-D3B93049B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3934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0ED2B-34DC-4645-8A7F-6D1F0FC0483F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DF59B-BB8D-462E-BB6A-1FA2D8C88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242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61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22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83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43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04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65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26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86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DF59B-BB8D-462E-BB6A-1FA2D8C88C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734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DF59B-BB8D-462E-BB6A-1FA2D8C88CC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667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849120"/>
            <a:ext cx="10881360" cy="1751334"/>
          </a:xfrm>
        </p:spPr>
        <p:txBody>
          <a:bodyPr anchor="b">
            <a:sp3d contourW="8890">
              <a:contourClr>
                <a:schemeClr val="accent3">
                  <a:shade val="55000"/>
                </a:schemeClr>
              </a:contourClr>
            </a:sp3d>
          </a:bodyPr>
          <a:lstStyle>
            <a:lvl1pPr algn="ctr">
              <a:defRPr sz="44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kumimoji="0" lang="en-US" altLang="zh-CN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3600454"/>
            <a:ext cx="8961120" cy="163632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 altLang="zh-CN" dirty="0" smtClean="0"/>
              <a:t>Click to edit Master subtitle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0B42E-195B-47C7-9BE8-58D3AEB3A908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 smtClean="0"/>
              <a:t>Akash S. </a:t>
            </a:r>
            <a:r>
              <a:rPr lang="en-US" altLang="zh-CN" dirty="0" err="1" smtClean="0"/>
              <a:t>Pathak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14560" y="0"/>
            <a:ext cx="2987040" cy="340783"/>
          </a:xfrm>
        </p:spPr>
        <p:txBody>
          <a:bodyPr/>
          <a:lstStyle>
            <a:lvl1pPr>
              <a:defRPr sz="18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altLang="zh-CN" dirty="0" smtClean="0"/>
              <a:t>H14Z</a:t>
            </a:r>
            <a:fld id="{5D617C44-B3AA-4DFF-AD16-AF5172FF724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99F13-3974-44AC-A39B-7EDE68229D4F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 smtClean="0"/>
              <a:t>Akash S. </a:t>
            </a:r>
            <a:r>
              <a:rPr lang="en-US" altLang="zh-CN" dirty="0" err="1" smtClean="0"/>
              <a:t>Pathak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14560" y="1"/>
            <a:ext cx="2987040" cy="304800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altLang="zh-CN" dirty="0" smtClean="0"/>
              <a:t>H14Z </a:t>
            </a:r>
            <a:fld id="{5D617C44-B3AA-4DFF-AD16-AF5172FF724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3597209"/>
            <a:ext cx="10881360" cy="1736794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120" y="2199334"/>
            <a:ext cx="10881360" cy="1401120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161" indent="0" algn="l">
              <a:buNone/>
              <a:defRPr sz="1800">
                <a:solidFill>
                  <a:schemeClr val="tx2"/>
                </a:solidFill>
              </a:defRPr>
            </a:lvl2pPr>
            <a:lvl3pPr marL="914322" indent="0" algn="l">
              <a:buNone/>
              <a:defRPr sz="1600">
                <a:solidFill>
                  <a:schemeClr val="tx2"/>
                </a:solidFill>
              </a:defRPr>
            </a:lvl3pPr>
            <a:lvl4pPr marL="1371483" indent="0" algn="l">
              <a:buNone/>
              <a:defRPr sz="1400">
                <a:solidFill>
                  <a:schemeClr val="tx2"/>
                </a:solidFill>
              </a:defRPr>
            </a:lvl4pPr>
            <a:lvl5pPr marL="1828643" indent="0" algn="l">
              <a:buNone/>
              <a:defRPr sz="1400">
                <a:solidFill>
                  <a:schemeClr val="tx2"/>
                </a:solidFill>
              </a:defRPr>
            </a:lvl5pPr>
            <a:lvl6pPr marL="228580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15B0-2DB9-4967-9744-AEAF73DEEBF8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14560" y="0"/>
            <a:ext cx="2987040" cy="340783"/>
          </a:xfrm>
        </p:spPr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493524"/>
            <a:ext cx="5654040" cy="42242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493524"/>
            <a:ext cx="5654040" cy="42242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4BBCE-E569-4B8B-BD3B-68FF18CADE4B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432773"/>
            <a:ext cx="5656264" cy="5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1" indent="0">
              <a:buNone/>
              <a:defRPr sz="2000" b="1"/>
            </a:lvl2pPr>
            <a:lvl3pPr marL="914322" indent="0">
              <a:buNone/>
              <a:defRPr sz="1800" b="1"/>
            </a:lvl3pPr>
            <a:lvl4pPr marL="1371483" indent="0">
              <a:buNone/>
              <a:defRPr sz="1600" b="1"/>
            </a:lvl4pPr>
            <a:lvl5pPr marL="1828643" indent="0">
              <a:buNone/>
              <a:defRPr sz="1600" b="1"/>
            </a:lvl5pPr>
            <a:lvl6pPr marL="2285804" indent="0">
              <a:buNone/>
              <a:defRPr sz="1600" b="1"/>
            </a:lvl6pPr>
            <a:lvl7pPr marL="2742965" indent="0">
              <a:buNone/>
              <a:defRPr sz="1600" b="1"/>
            </a:lvl7pPr>
            <a:lvl8pPr marL="3200126" indent="0">
              <a:buNone/>
              <a:defRPr sz="1600" b="1"/>
            </a:lvl8pPr>
            <a:lvl9pPr marL="3657286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029884"/>
            <a:ext cx="5656264" cy="3687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9" y="1432773"/>
            <a:ext cx="5658486" cy="5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1" indent="0">
              <a:buNone/>
              <a:defRPr sz="2000" b="1"/>
            </a:lvl2pPr>
            <a:lvl3pPr marL="914322" indent="0">
              <a:buNone/>
              <a:defRPr sz="1800" b="1"/>
            </a:lvl3pPr>
            <a:lvl4pPr marL="1371483" indent="0">
              <a:buNone/>
              <a:defRPr sz="1600" b="1"/>
            </a:lvl4pPr>
            <a:lvl5pPr marL="1828643" indent="0">
              <a:buNone/>
              <a:defRPr sz="1600" b="1"/>
            </a:lvl5pPr>
            <a:lvl6pPr marL="2285804" indent="0">
              <a:buNone/>
              <a:defRPr sz="1600" b="1"/>
            </a:lvl6pPr>
            <a:lvl7pPr marL="2742965" indent="0">
              <a:buNone/>
              <a:defRPr sz="1600" b="1"/>
            </a:lvl7pPr>
            <a:lvl8pPr marL="3200126" indent="0">
              <a:buNone/>
              <a:defRPr sz="1600" b="1"/>
            </a:lvl8pPr>
            <a:lvl9pPr marL="3657286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9" y="2029884"/>
            <a:ext cx="5658486" cy="3687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173B-DB4E-4EC8-ACB3-28A98CC754C5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F100-1CB6-4FC0-8A0C-2C98B282916F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B1D0-DB12-4C86-A2B6-B1B99BBCEB28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762" y="355603"/>
            <a:ext cx="3733800" cy="1711317"/>
          </a:xfrm>
        </p:spPr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>
            <a:lvl1pPr algn="l">
              <a:defRPr sz="3200" b="1" kern="1200" cap="all" spc="50">
                <a:ln w="1587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3920" y="355603"/>
            <a:ext cx="7574280" cy="53621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6762" y="2066918"/>
            <a:ext cx="3733800" cy="3651370"/>
          </a:xfrm>
        </p:spPr>
        <p:txBody>
          <a:bodyPr/>
          <a:lstStyle>
            <a:lvl1pPr marL="0" indent="0">
              <a:buNone/>
              <a:defRPr sz="1400"/>
            </a:lvl1pPr>
            <a:lvl2pPr marL="457161" indent="0">
              <a:buNone/>
              <a:defRPr sz="1200"/>
            </a:lvl2pPr>
            <a:lvl3pPr marL="914322" indent="0">
              <a:buNone/>
              <a:defRPr sz="1000"/>
            </a:lvl3pPr>
            <a:lvl4pPr marL="1371483" indent="0">
              <a:buNone/>
              <a:defRPr sz="900"/>
            </a:lvl4pPr>
            <a:lvl5pPr marL="1828643" indent="0">
              <a:buNone/>
              <a:defRPr sz="900"/>
            </a:lvl5pPr>
            <a:lvl6pPr marL="2285804" indent="0">
              <a:buNone/>
              <a:defRPr sz="900"/>
            </a:lvl6pPr>
            <a:lvl7pPr marL="2742965" indent="0">
              <a:buNone/>
              <a:defRPr sz="900"/>
            </a:lvl7pPr>
            <a:lvl8pPr marL="3200126" indent="0">
              <a:buNone/>
              <a:defRPr sz="900"/>
            </a:lvl8pPr>
            <a:lvl9pPr marL="3657286" indent="0">
              <a:buNone/>
              <a:defRPr sz="9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B0F76-376B-441D-A1AC-FAAD4DD227FC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2212665" y="516822"/>
            <a:ext cx="10288942" cy="4425429"/>
            <a:chOff x="428596" y="553734"/>
            <a:chExt cx="7349244" cy="4741531"/>
          </a:xfrm>
        </p:grpSpPr>
        <p:sp>
          <p:nvSpPr>
            <p:cNvPr id="16" name="Rectangle 15"/>
            <p:cNvSpPr/>
            <p:nvPr/>
          </p:nvSpPr>
          <p:spPr>
            <a:xfrm rot="21480000">
              <a:off x="428596" y="580356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  <p:sp>
          <p:nvSpPr>
            <p:cNvPr id="17" name="Rectangle 16"/>
            <p:cNvSpPr/>
            <p:nvPr/>
          </p:nvSpPr>
          <p:spPr>
            <a:xfrm rot="21540000">
              <a:off x="437473" y="571479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37481" y="553734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12677" y="571925"/>
            <a:ext cx="10101334" cy="4295364"/>
          </a:xfrm>
          <a:solidFill>
            <a:schemeClr val="bg2">
              <a:tint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161" indent="0">
              <a:buNone/>
              <a:defRPr sz="2800"/>
            </a:lvl2pPr>
            <a:lvl3pPr marL="914322" indent="0">
              <a:buNone/>
              <a:defRPr sz="2400"/>
            </a:lvl3pPr>
            <a:lvl4pPr marL="1371483" indent="0">
              <a:buNone/>
              <a:defRPr sz="2000"/>
            </a:lvl4pPr>
            <a:lvl5pPr marL="1828643" indent="0">
              <a:buNone/>
              <a:defRPr sz="2000"/>
            </a:lvl5pPr>
            <a:lvl6pPr marL="2285804" indent="0">
              <a:buNone/>
              <a:defRPr sz="2000"/>
            </a:lvl6pPr>
            <a:lvl7pPr marL="2742965" indent="0">
              <a:buNone/>
              <a:defRPr sz="2000"/>
            </a:lvl7pPr>
            <a:lvl8pPr marL="3200126" indent="0">
              <a:buNone/>
              <a:defRPr sz="2000"/>
            </a:lvl8pPr>
            <a:lvl9pPr marL="3657286" indent="0">
              <a:buNone/>
              <a:defRPr sz="2000"/>
            </a:lvl9pPr>
          </a:lstStyle>
          <a:p>
            <a:r>
              <a:rPr kumimoji="0" lang="en-US" altLang="zh-CN" smtClean="0"/>
              <a:t>Click icon to add picture</a:t>
            </a:r>
            <a:endParaRPr kumimoji="0" lang="en-US"/>
          </a:p>
        </p:txBody>
      </p:sp>
      <p:sp useBgFill="1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555610"/>
            <a:ext cx="1900206" cy="5311812"/>
          </a:xfrm>
          <a:noFill/>
        </p:spPr>
        <p:txBody>
          <a:bodyPr vert="eaVert" anchor="ctr">
            <a:noAutofit/>
          </a:bodyPr>
          <a:lstStyle>
            <a:lvl1pPr algn="l">
              <a:defRPr lang="zh-CN" altLang="en-US" sz="32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00273" y="5116217"/>
            <a:ext cx="10101334" cy="751205"/>
          </a:xfrm>
        </p:spPr>
        <p:txBody>
          <a:bodyPr anchor="ctr"/>
          <a:lstStyle>
            <a:lvl1pPr marL="0" indent="0" algn="ctr">
              <a:buNone/>
              <a:defRPr sz="1400"/>
            </a:lvl1pPr>
            <a:lvl2pPr marL="457161" indent="0" algn="ctr">
              <a:buNone/>
              <a:defRPr sz="1200"/>
            </a:lvl2pPr>
            <a:lvl3pPr marL="914322" indent="0" algn="ctr">
              <a:buNone/>
              <a:defRPr sz="1000"/>
            </a:lvl3pPr>
            <a:lvl4pPr marL="1371483" indent="0" algn="ctr">
              <a:buNone/>
              <a:defRPr sz="900"/>
            </a:lvl4pPr>
            <a:lvl5pPr marL="1828643" indent="0" algn="ctr">
              <a:buNone/>
              <a:defRPr sz="900"/>
            </a:lvl5pPr>
            <a:lvl6pPr marL="2285804" indent="0">
              <a:buNone/>
              <a:defRPr sz="900"/>
            </a:lvl6pPr>
            <a:lvl7pPr marL="2742965" indent="0">
              <a:buNone/>
              <a:defRPr sz="900"/>
            </a:lvl7pPr>
            <a:lvl8pPr marL="3200126" indent="0">
              <a:buNone/>
              <a:defRPr sz="900"/>
            </a:lvl8pPr>
            <a:lvl9pPr marL="3657286" indent="0">
              <a:buNone/>
              <a:defRPr sz="9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CFCBD-BF76-4BA9-A7C9-74B20721CB65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53460-BC43-4E5D-A0AC-FB61A3D4B379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01305" y="256331"/>
            <a:ext cx="1960218" cy="5461424"/>
          </a:xfrm>
        </p:spPr>
        <p:txBody>
          <a:bodyPr vert="eaVert"/>
          <a:lstStyle>
            <a:lvl1pPr>
              <a:defRPr lang="zh-CN" altLang="en-US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3" y="256331"/>
            <a:ext cx="9561222" cy="5461424"/>
          </a:xfrm>
        </p:spPr>
        <p:txBody>
          <a:bodyPr vert="eaVert"/>
          <a:lstStyle/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2C44B-850B-4B42-A13A-A08A9D6C7D67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56330"/>
            <a:ext cx="11521440" cy="1066800"/>
          </a:xfrm>
          <a:prstGeom prst="rect">
            <a:avLst/>
          </a:prstGeom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493520"/>
            <a:ext cx="11521440" cy="4409440"/>
          </a:xfrm>
          <a:prstGeom prst="rect">
            <a:avLst/>
          </a:prstGeom>
        </p:spPr>
        <p:txBody>
          <a:bodyPr vert="horz" lIns="91432" tIns="45716" rIns="91432" bIns="45716" rtlCol="0">
            <a:normAutofit/>
          </a:bodyPr>
          <a:lstStyle/>
          <a:p>
            <a:pPr lvl="0" eaLnBrk="1" latinLnBrk="0" hangingPunct="1"/>
            <a:r>
              <a:rPr kumimoji="0" lang="en-US" altLang="zh-CN" smtClean="0"/>
              <a:t>Click to edit Master text styles</a:t>
            </a:r>
          </a:p>
          <a:p>
            <a:pPr lvl="1" eaLnBrk="1" latinLnBrk="0" hangingPunct="1"/>
            <a:r>
              <a:rPr kumimoji="0" lang="en-US" altLang="zh-CN" smtClean="0"/>
              <a:t>Second level</a:t>
            </a:r>
          </a:p>
          <a:p>
            <a:pPr lvl="2" eaLnBrk="1" latinLnBrk="0" hangingPunct="1"/>
            <a:r>
              <a:rPr kumimoji="0" lang="en-US" altLang="zh-CN" smtClean="0"/>
              <a:t>Third level</a:t>
            </a:r>
          </a:p>
          <a:p>
            <a:pPr lvl="3" eaLnBrk="1" latinLnBrk="0" hangingPunct="1"/>
            <a:r>
              <a:rPr kumimoji="0" lang="en-US" altLang="zh-CN" smtClean="0"/>
              <a:t>Fourth level</a:t>
            </a:r>
          </a:p>
          <a:p>
            <a:pPr lvl="4" eaLnBrk="1" latinLnBrk="0" hangingPunct="1"/>
            <a:r>
              <a:rPr kumimoji="0"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30" y="6051733"/>
            <a:ext cx="2987040" cy="340783"/>
          </a:xfrm>
          <a:prstGeom prst="rect">
            <a:avLst/>
          </a:prstGeom>
        </p:spPr>
        <p:txBody>
          <a:bodyPr vert="horz" lIns="91432" tIns="45716" rIns="91432" bIns="45716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E759A-A439-49EB-9E71-9424FF1084D3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051733"/>
            <a:ext cx="4053840" cy="340783"/>
          </a:xfrm>
          <a:prstGeom prst="rect">
            <a:avLst/>
          </a:prstGeom>
        </p:spPr>
        <p:txBody>
          <a:bodyPr vert="horz" lIns="91432" tIns="45716" rIns="91432" bIns="45716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89702" y="6051733"/>
            <a:ext cx="2987040" cy="340783"/>
          </a:xfrm>
          <a:prstGeom prst="rect">
            <a:avLst/>
          </a:prstGeom>
        </p:spPr>
        <p:txBody>
          <a:bodyPr vert="horz" lIns="91432" tIns="45716" rIns="91432" bIns="45716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4000" b="1" kern="1200" cap="all" spc="50" dirty="0">
          <a:ln w="15875" cmpd="sng">
            <a:solidFill>
              <a:srgbClr val="FFFFFF"/>
            </a:solidFill>
            <a:prstDash val="solid"/>
          </a:ln>
          <a:solidFill>
            <a:srgbClr val="FFFFFF"/>
          </a:solidFill>
          <a:effectLst>
            <a:outerShdw blurRad="31750" dir="3600000" algn="tl" rotWithShape="0">
              <a:srgbClr val="000000">
                <a:alpha val="6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870" indent="-342870" algn="l" rtl="0" eaLnBrk="1" latinLnBrk="0" hangingPunct="1">
        <a:spcBef>
          <a:spcPct val="20000"/>
        </a:spcBef>
        <a:buClr>
          <a:schemeClr val="tx2"/>
        </a:buClr>
        <a:buSzPct val="90000"/>
        <a:buFont typeface="Cambria"/>
        <a:buChar char="+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86" indent="-285725" algn="l" rtl="0" eaLnBrk="1" latinLnBrk="0" hangingPunct="1">
        <a:spcBef>
          <a:spcPct val="20000"/>
        </a:spcBef>
        <a:buClr>
          <a:schemeClr val="tx2"/>
        </a:buClr>
        <a:buSzPct val="100000"/>
        <a:buFont typeface="Cambria"/>
        <a:buChar char="–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02" indent="-22858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Ï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63" indent="-228580" algn="l" rtl="0" eaLnBrk="1" latinLnBrk="0" hangingPunct="1">
        <a:spcBef>
          <a:spcPct val="20000"/>
        </a:spcBef>
        <a:buClr>
          <a:schemeClr val="tx2"/>
        </a:buClr>
        <a:buSzPct val="90000"/>
        <a:buFont typeface="Calibri"/>
        <a:buChar char="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23" indent="-228580" algn="l" rtl="0" eaLnBrk="1" latinLnBrk="0" hangingPunct="1">
        <a:spcBef>
          <a:spcPct val="20000"/>
        </a:spcBef>
        <a:buClr>
          <a:schemeClr val="tx2"/>
        </a:buClr>
        <a:buSzPct val="100000"/>
        <a:buFont typeface="Cambria"/>
        <a:buChar char="=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4" indent="-22858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45" indent="-22858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06" indent="-22858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66" indent="-22858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0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6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2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HgYlVjagmA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Computer Science A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 lnSpcReduction="10000"/>
          </a:bodyPr>
          <a:lstStyle/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>
                <a:solidFill>
                  <a:schemeClr val="tx1"/>
                </a:solidFill>
              </a:rPr>
              <a:t>Session1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HN14Z 1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56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56330"/>
            <a:ext cx="11521440" cy="482225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984741"/>
            <a:ext cx="11805920" cy="5251939"/>
          </a:xfrm>
        </p:spPr>
        <p:txBody>
          <a:bodyPr>
            <a:normAutofit/>
          </a:bodyPr>
          <a:lstStyle/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Why programming ? Why Java?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Variables and Data Types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Expressions and assignment Statements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Compound Assignment Operators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Casting and Ranges of Variables.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t>2</a:t>
            </a:fld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224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28600"/>
            <a:ext cx="11521440" cy="5056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 at a Glance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907201"/>
            <a:ext cx="3886200" cy="514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53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" y="256330"/>
            <a:ext cx="11521440" cy="5056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 at a Glance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/>
              <a:t>Akash S. </a:t>
            </a:r>
            <a:r>
              <a:rPr lang="en-US" altLang="zh-CN" dirty="0" err="1" smtClean="0"/>
              <a:t>Pathak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62000"/>
            <a:ext cx="67818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7530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 Why Programming? Why Java?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5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122682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What do Android phones, 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Minecraft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and Netflix have in common?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They are all programmed in Java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Java is a programming language that is used worldwide to create software that we all use.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First Java Program</a:t>
            </a: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Every open curly brace must have close curly brace.</a:t>
            </a: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743200"/>
            <a:ext cx="5486400" cy="2338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8832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 Why Programming? Why Java?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6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122682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Print Commands in Java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Java has two different print commands to print output to the screen:</a:t>
            </a:r>
          </a:p>
          <a:p>
            <a:pPr marL="457200" indent="-457200" algn="just">
              <a:buAutoNum type="arabicPeriod"/>
            </a:pPr>
            <a:r>
              <a:rPr lang="en-US" altLang="zh-CN" sz="2400" b="1" i="1" u="sng" dirty="0" err="1" smtClean="0">
                <a:latin typeface="Georgia" pitchFamily="18" charset="0"/>
                <a:cs typeface="Times New Roman" pitchFamily="18" charset="0"/>
              </a:rPr>
              <a:t>System.out.println</a:t>
            </a:r>
            <a:r>
              <a:rPr lang="en-US" altLang="zh-CN" sz="2400" b="1" i="1" u="sng" dirty="0" smtClean="0">
                <a:latin typeface="Georgia" pitchFamily="18" charset="0"/>
                <a:cs typeface="Times New Roman" pitchFamily="18" charset="0"/>
              </a:rPr>
              <a:t>()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: prints the value followed by  new line(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ln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).</a:t>
            </a:r>
          </a:p>
          <a:p>
            <a:pPr marL="457200" indent="-457200" algn="just">
              <a:buAutoNum type="arabicPeriod"/>
            </a:pPr>
            <a:r>
              <a:rPr lang="en-US" altLang="zh-CN" sz="2400" b="1" i="1" u="sng" dirty="0" err="1" smtClean="0">
                <a:latin typeface="Georgia" pitchFamily="18" charset="0"/>
                <a:cs typeface="Times New Roman" pitchFamily="18" charset="0"/>
              </a:rPr>
              <a:t>System.out.print</a:t>
            </a:r>
            <a:r>
              <a:rPr lang="en-US" altLang="zh-CN" sz="2400" b="1" i="1" u="sng" dirty="0">
                <a:latin typeface="Georgia" pitchFamily="18" charset="0"/>
                <a:cs typeface="Times New Roman" pitchFamily="18" charset="0"/>
              </a:rPr>
              <a:t>():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prints the value without advancing to the next line.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Run this code: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819400"/>
            <a:ext cx="5715000" cy="3156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727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 Why Programming? Why Java?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7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122682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Important Rules: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Class name must have first letter as capitalized letter.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Methods(function)  never ends with semicolon(;)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All other java statement must have semicolon(;) at the end to show end of statement.</a:t>
            </a:r>
          </a:p>
          <a:p>
            <a:pPr marL="457200" indent="-457200" algn="just">
              <a:buAutoNum type="arabicPeriod"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Note: if you forget to use semicolon your program won’t compile and run.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59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 Why Programming? Why Java?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8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122682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762000"/>
            <a:ext cx="8382000" cy="53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4591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 Why Programming? Why Java?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9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122682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Comments:</a:t>
            </a:r>
          </a:p>
          <a:p>
            <a:pPr marL="0" indent="0" algn="just">
              <a:buNone/>
            </a:pPr>
            <a:r>
              <a:rPr lang="en-US" altLang="zh-CN" sz="2400" b="1" i="1" dirty="0"/>
              <a:t>it is a good idea to use comments to make notes to yourself and other programmers working with you. </a:t>
            </a:r>
            <a:endParaRPr lang="en-US" altLang="zh-CN" sz="2400" b="1" i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Comments will not get translated to machine language by the compiler.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743200"/>
            <a:ext cx="8763000" cy="2597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96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 Why Programming? Why Java?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10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122682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Debugging Challenge :   Fix the code below and show the output.</a:t>
            </a: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447800"/>
            <a:ext cx="7543800" cy="4363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9007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 Why Programming? Why Java?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11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122682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 1.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D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762000"/>
            <a:ext cx="5324475" cy="194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160" y="2819400"/>
            <a:ext cx="2752725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826567"/>
            <a:ext cx="2095500" cy="258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393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 Why Programming? Why Java?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12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122682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 2.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D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75" y="704850"/>
            <a:ext cx="8620125" cy="539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5929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 Variables and Data types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13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122682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What is a Variable?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 variable is a name associated with a memory location in the computer, where you can store a value that can change or vary.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What this video[VPN is needed]</a:t>
            </a:r>
          </a:p>
          <a:p>
            <a:pPr marL="0" indent="0" algn="just">
              <a:buNone/>
            </a:pPr>
            <a:r>
              <a:rPr lang="en-US" altLang="zh-CN" sz="2400" dirty="0">
                <a:latin typeface="Georgia" pitchFamily="18" charset="0"/>
                <a:cs typeface="Times New Roman" pitchFamily="18" charset="0"/>
                <a:hlinkClick r:id="rId2"/>
              </a:rPr>
              <a:t>https://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hlinkClick r:id="rId2"/>
              </a:rPr>
              <a:t>www.youtube.com/watch?v=pHgYlVjagmA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If you are playing game then score starts at 0 and keeps increasing. So you can have a variable score to store the value.</a:t>
            </a: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dirty="0" err="1">
                <a:latin typeface="Georgia" pitchFamily="18" charset="0"/>
                <a:cs typeface="Times New Roman" pitchFamily="18" charset="0"/>
              </a:rPr>
              <a:t>i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nt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score=0;</a:t>
            </a: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57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 Variables and Data types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14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Data Types?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There are two types of variables in Java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Primitive variables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variables holds the value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Reference variables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variable holds the address of the location where the value is store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Primitive types on the AP CSA exam are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: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int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: which store integers(number like 3,-76,2033 and so on……..)</a:t>
            </a:r>
          </a:p>
          <a:p>
            <a:pPr marL="457200" indent="-457200" algn="just">
              <a:buAutoNum type="arabicPeriod"/>
            </a:pPr>
            <a:r>
              <a:rPr lang="en-US" altLang="zh-CN" sz="2400" dirty="0">
                <a:latin typeface="Georgia" pitchFamily="18" charset="0"/>
                <a:cs typeface="Times New Roman" pitchFamily="18" charset="0"/>
              </a:rPr>
              <a:t>d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ouble : which store floating point numbers(decimal number like 6.3, -0.9 and 6623.8)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boolean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: which store 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boolean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values(either true or false) 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Reference types on the AP CSA exam are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: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String : which store text( like “Hello”,   “Welcome”)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All other objects of a given class are reference type.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628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 Variables and Data types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15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 1: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B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371600"/>
            <a:ext cx="9993086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963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 Variables and Data types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16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 2: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A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413" y="1275878"/>
            <a:ext cx="9362631" cy="2381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598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 Variables and Data types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17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 3: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D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198" y="1295400"/>
            <a:ext cx="90678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484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 Variables and Data types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18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 4: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C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247775"/>
            <a:ext cx="8382000" cy="2710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18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 Variables and Data types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19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 5: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B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295400"/>
            <a:ext cx="8880231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842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 Variables and Data types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20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Declaring Variables: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To create a variable , you must tell java its data type and its name. creating variable is also called as declaring variable.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Example:</a:t>
            </a:r>
          </a:p>
          <a:p>
            <a:pPr marL="0" indent="0" algn="just">
              <a:buNone/>
            </a:pP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int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age;   </a:t>
            </a: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Computer allocated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Memory based on 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Data types you used.  </a:t>
            </a: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When we assign value to variable its called as initialization: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age=23;   this is initialization.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850" y="2438400"/>
            <a:ext cx="8772525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2959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 Variables and Data types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21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Write and Execute the below code: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762000"/>
            <a:ext cx="4864100" cy="549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572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 Variables and Data types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22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 1: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914400"/>
            <a:ext cx="9286875" cy="466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295400"/>
            <a:ext cx="48387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153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 Variables and Data types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23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 2: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143000"/>
            <a:ext cx="9258300" cy="439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752600"/>
            <a:ext cx="47625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538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 Variables and Data types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24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Fix the below code: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752600"/>
            <a:ext cx="6553200" cy="363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749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 Variables and Data types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25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4000"/>
            <a:ext cx="10401300" cy="439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5360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 Variables and Data types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26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Naming Variables:</a:t>
            </a: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21" y="2057400"/>
            <a:ext cx="9846129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5279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 Variables and Data types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27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Debug the below code:</a:t>
            </a: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25" y="990600"/>
            <a:ext cx="8067675" cy="485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0316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 Variables and Data types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28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 :</a:t>
            </a: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76400"/>
            <a:ext cx="11398526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9859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1.3 Expressions and assignment statements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29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Assignment Statements: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Assignment statements initialize or change the value stored in a variable using the assignment operator =.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286000"/>
            <a:ext cx="4633115" cy="313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1594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1.3 Expressions and assignment statements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30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Predict the output of the below code: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01" y="1447800"/>
            <a:ext cx="4876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225" y="2209800"/>
            <a:ext cx="158115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4217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1.3 Expressions and assignment statements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31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 1:</a:t>
            </a:r>
          </a:p>
          <a:p>
            <a:pPr marL="0" indent="0" algn="just">
              <a:buNone/>
            </a:pPr>
            <a:r>
              <a:rPr lang="en-US" altLang="zh-CN" sz="24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B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295400"/>
            <a:ext cx="9353550" cy="412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7434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1.3 Expressions and assignment statements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32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Write a java program to swap values of two variable: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[hint : a=5, b=6  after swap   a=6 and b=5]</a:t>
            </a: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Adding 1 to a variable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2438400"/>
            <a:ext cx="4867275" cy="368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4648200"/>
            <a:ext cx="1190625" cy="120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032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1.3 Expressions and assignment statements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33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Operators :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Addition (+)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Subtraction(-)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Division (/)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Multiplication (*)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Double equal (==)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is used to compare values of two variables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Equal (=)  this operator is used to assign values to variable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Not equal (!=)   is used to compare values of two variable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78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1.3 Expressions and assignment statements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34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Operators  Example: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Check this code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752600"/>
            <a:ext cx="5191125" cy="409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02" y="2971800"/>
            <a:ext cx="12090997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963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1.3 Expressions and assignment statements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35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Operators  Precedence: 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When compound expressions are evaluated , operator precedence rules are used , so that * , /  and %  are done before + and -.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Anything in parentheses is done first.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Predict the output of the below code:</a:t>
            </a: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14735"/>
            <a:ext cx="4905375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814935"/>
            <a:ext cx="723900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134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1.3 Expressions and assignment statements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36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Predict the output of the below code:</a:t>
            </a: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4867275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808396"/>
            <a:ext cx="847725" cy="1631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289283"/>
            <a:ext cx="12192000" cy="103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308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1.3 Expressions and assignment statements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37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 1: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C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676400"/>
            <a:ext cx="7315200" cy="243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649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1.3 Expressions and assignment statements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38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 2: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A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580678"/>
            <a:ext cx="6935492" cy="2534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420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1.3 Expressions and assignment statements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39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Programming Challenge : Dog Years</a:t>
            </a: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22400"/>
            <a:ext cx="9512300" cy="497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2845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1.4 Compound assignment Operators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40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>
                <a:latin typeface="Georgia" pitchFamily="18" charset="0"/>
                <a:cs typeface="Times New Roman" pitchFamily="18" charset="0"/>
              </a:rPr>
              <a:t>Compound assignment operators</a:t>
            </a:r>
            <a:r>
              <a:rPr lang="en-US" altLang="zh-CN" sz="2400" dirty="0">
                <a:latin typeface="Georgia" pitchFamily="18" charset="0"/>
                <a:cs typeface="Times New Roman" pitchFamily="18" charset="0"/>
              </a:rPr>
              <a:t> are shortcuts that do a math operation and assignment in one step.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109787"/>
            <a:ext cx="9572625" cy="218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9395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1.4 Compound assignment Operators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41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>
                <a:latin typeface="Georgia" pitchFamily="18" charset="0"/>
                <a:cs typeface="Times New Roman" pitchFamily="18" charset="0"/>
              </a:rPr>
              <a:t>Compound assignment operators</a:t>
            </a:r>
            <a:r>
              <a:rPr lang="en-US" altLang="zh-CN" sz="2400" dirty="0">
                <a:latin typeface="Georgia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: Practice the below code.</a:t>
            </a: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524000"/>
            <a:ext cx="5105400" cy="421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470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1.4 Compound assignment Operators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42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 1: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E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109663"/>
            <a:ext cx="7800975" cy="4736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236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1.4 Compound assignment Operators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43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 1: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E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788" y="866602"/>
            <a:ext cx="8786812" cy="522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969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1.5 Casting and ranges of variable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44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 fontScale="40000" lnSpcReduction="20000"/>
          </a:bodyPr>
          <a:lstStyle/>
          <a:p>
            <a:pPr marL="0" indent="0" algn="just">
              <a:buNone/>
            </a:pPr>
            <a:r>
              <a:rPr lang="en-US" altLang="zh-CN" sz="4500" b="1" u="sng" dirty="0" smtClean="0">
                <a:latin typeface="Georgia" pitchFamily="18" charset="0"/>
                <a:cs typeface="Times New Roman" pitchFamily="18" charset="0"/>
              </a:rPr>
              <a:t>Type Casting : </a:t>
            </a:r>
            <a:r>
              <a:rPr lang="en-US" altLang="zh-CN" sz="4500" dirty="0" smtClean="0">
                <a:latin typeface="Georgia" pitchFamily="18" charset="0"/>
                <a:cs typeface="Times New Roman" pitchFamily="18" charset="0"/>
              </a:rPr>
              <a:t>is used to convert variable values from one type to another</a:t>
            </a:r>
            <a:r>
              <a:rPr lang="en-US" altLang="zh-CN" sz="3800" dirty="0" smtClean="0">
                <a:latin typeface="Georgia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en-US" altLang="zh-CN" sz="38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38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38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38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38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38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38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38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38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4500" b="1" u="sng" dirty="0" smtClean="0">
                <a:latin typeface="Georgia" pitchFamily="18" charset="0"/>
                <a:cs typeface="Times New Roman" pitchFamily="18" charset="0"/>
              </a:rPr>
              <a:t>Example:</a:t>
            </a:r>
          </a:p>
          <a:p>
            <a:pPr marL="0" indent="0" algn="just">
              <a:buNone/>
            </a:pPr>
            <a:r>
              <a:rPr lang="en-US" altLang="zh-CN" sz="4500" dirty="0" smtClean="0">
                <a:latin typeface="Georgia" pitchFamily="18" charset="0"/>
                <a:cs typeface="Times New Roman" pitchFamily="18" charset="0"/>
              </a:rPr>
              <a:t>double money=5000/110 ;</a:t>
            </a:r>
          </a:p>
          <a:p>
            <a:pPr marL="0" indent="0" algn="just">
              <a:buNone/>
            </a:pPr>
            <a:r>
              <a:rPr lang="en-US" altLang="zh-CN" sz="4500" dirty="0" err="1" smtClean="0">
                <a:latin typeface="Georgia" pitchFamily="18" charset="0"/>
                <a:cs typeface="Times New Roman" pitchFamily="18" charset="0"/>
              </a:rPr>
              <a:t>System.out.print</a:t>
            </a:r>
            <a:r>
              <a:rPr lang="en-US" altLang="zh-CN" sz="4500" dirty="0" smtClean="0">
                <a:latin typeface="Georgia" pitchFamily="18" charset="0"/>
                <a:cs typeface="Times New Roman" pitchFamily="18" charset="0"/>
              </a:rPr>
              <a:t>(money);    -</a:t>
            </a:r>
            <a:r>
              <a:rPr lang="en-US" altLang="zh-CN" sz="45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45.0</a:t>
            </a:r>
          </a:p>
          <a:p>
            <a:pPr marL="0" indent="0" algn="just">
              <a:buNone/>
            </a:pPr>
            <a:endParaRPr lang="en-US" altLang="zh-CN" sz="45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r>
              <a:rPr lang="en-US" altLang="zh-CN" sz="45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double money</a:t>
            </a:r>
            <a:r>
              <a:rPr lang="en-US" altLang="zh-CN" sz="450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=(double)5000/110</a:t>
            </a:r>
            <a:r>
              <a:rPr lang="en-US" altLang="zh-CN" sz="45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;    //[</a:t>
            </a:r>
            <a:r>
              <a:rPr lang="en-US" altLang="zh-CN" sz="45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Example of Casting</a:t>
            </a:r>
            <a:r>
              <a:rPr lang="en-US" altLang="zh-CN" sz="45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]</a:t>
            </a:r>
          </a:p>
          <a:p>
            <a:pPr marL="0" indent="0" algn="just">
              <a:buNone/>
            </a:pPr>
            <a:r>
              <a:rPr lang="en-US" altLang="zh-CN" sz="4500" dirty="0" err="1">
                <a:latin typeface="Georgia" pitchFamily="18" charset="0"/>
                <a:cs typeface="Times New Roman" pitchFamily="18" charset="0"/>
              </a:rPr>
              <a:t>System.out.print</a:t>
            </a:r>
            <a:r>
              <a:rPr lang="en-US" altLang="zh-CN" sz="4500" dirty="0">
                <a:latin typeface="Georgia" pitchFamily="18" charset="0"/>
                <a:cs typeface="Times New Roman" pitchFamily="18" charset="0"/>
              </a:rPr>
              <a:t>(money);    -</a:t>
            </a:r>
            <a:r>
              <a:rPr lang="en-US" altLang="zh-CN" sz="4500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altLang="zh-CN" sz="45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45.454545</a:t>
            </a:r>
          </a:p>
          <a:p>
            <a:pPr marL="0" indent="0" algn="just">
              <a:buNone/>
            </a:pPr>
            <a:endParaRPr lang="en-US" altLang="zh-CN" sz="38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9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736" y="1295400"/>
            <a:ext cx="4467225" cy="326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5085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1.5 Casting and ranges of variable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45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Predict the output for the below code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52600"/>
            <a:ext cx="597426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114800"/>
            <a:ext cx="2971800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046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1.5 Casting and ranges of variable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46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Type the below code and check the output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600"/>
            <a:ext cx="10287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474" y="2524125"/>
            <a:ext cx="478155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624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1.5 Casting and ranges of variable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47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 1:</a:t>
            </a: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B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676400"/>
            <a:ext cx="9656064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599790"/>
            <a:ext cx="8972550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866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1.5 Casting and ranges of variable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48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 2:</a:t>
            </a: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B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300163"/>
            <a:ext cx="9036895" cy="167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0"/>
            <a:ext cx="8772525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723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1.5 Casting and ranges of variable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49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 3:</a:t>
            </a: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C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0"/>
            <a:ext cx="8772525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295400"/>
            <a:ext cx="8991600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675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1.5 Casting and ranges of variable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50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Programming Challenge:</a:t>
            </a: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71600"/>
            <a:ext cx="91440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1106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1.5 Casting and ranges of variable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51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12420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Practice below code:</a:t>
            </a: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0"/>
            <a:ext cx="1152525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242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lligraphy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alligraphy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华文行楷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明朝"/>
        <a:font script="Hang" typeface="HY견명조"/>
        <a:font script="Hans" typeface="华文行楷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lligraphy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  <a:satMod val="130000"/>
              </a:schemeClr>
            </a:gs>
            <a:gs pos="50000">
              <a:schemeClr val="phClr">
                <a:tint val="45000"/>
                <a:satMod val="220000"/>
              </a:schemeClr>
            </a:gs>
            <a:gs pos="100000">
              <a:schemeClr val="phClr">
                <a:tint val="90000"/>
                <a:satMod val="13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100000"/>
                <a:shade val="90000"/>
                <a:hueMod val="100000"/>
                <a:satMod val="200000"/>
              </a:schemeClr>
            </a:gs>
            <a:gs pos="50000">
              <a:schemeClr val="phClr">
                <a:tint val="100000"/>
                <a:shade val="60000"/>
                <a:hueMod val="100000"/>
                <a:satMod val="180000"/>
              </a:schemeClr>
            </a:gs>
            <a:gs pos="100000">
              <a:schemeClr val="phClr">
                <a:tint val="100000"/>
                <a:shade val="90000"/>
                <a:hueMod val="100000"/>
                <a:satMod val="2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50600">
              <a:schemeClr val="phClr">
                <a:alpha val="40000"/>
              </a:schemeClr>
            </a:glow>
          </a:effectLst>
        </a:effectStyle>
        <a:effectStyle>
          <a:effectLst>
            <a:glow rad="101600">
              <a:schemeClr val="phClr">
                <a:alpha val="60000"/>
              </a:schemeClr>
            </a:glow>
          </a:effectLst>
          <a:scene3d>
            <a:camera prst="isometricLeftDown" fov="0">
              <a:rot lat="0" lon="0" rev="0"/>
            </a:camera>
            <a:lightRig rig="harsh" dir="tl">
              <a:rot lat="0" lon="0" rev="14280000"/>
            </a:lightRig>
          </a:scene3d>
          <a:sp3d prstMaterial="flat">
            <a:bevelT w="38100" h="50800" prst="softRound"/>
          </a:sp3d>
        </a:effectStyle>
        <a:effectStyle>
          <a:effectLst>
            <a:glow>
              <a:schemeClr val="phClr"/>
            </a:glow>
          </a:effectLst>
          <a:scene3d>
            <a:camera prst="isometricLeftDown">
              <a:rot lat="0" lon="0" rev="0"/>
            </a:camera>
            <a:lightRig rig="harsh" dir="tl">
              <a:rot lat="0" lon="0" rev="14280000"/>
            </a:lightRig>
          </a:scene3d>
          <a:sp3d extrusionH="63500" contourW="38100" prstMaterial="flat">
            <a:bevelT w="50800" h="63500" prst="softRound"/>
            <a:contourClr>
              <a:schemeClr val="phClr">
                <a:tint val="5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hueMod val="100000"/>
                <a:satMod val="300000"/>
              </a:schemeClr>
            </a:gs>
            <a:gs pos="72000">
              <a:schemeClr val="phClr">
                <a:tint val="100000"/>
                <a:shade val="100000"/>
                <a:hueMod val="100000"/>
                <a:satMod val="100000"/>
              </a:schemeClr>
            </a:gs>
            <a:gs pos="81000">
              <a:schemeClr val="phClr">
                <a:tint val="98000"/>
                <a:shade val="100000"/>
                <a:hueMod val="100000"/>
                <a:satMod val="150000"/>
              </a:schemeClr>
            </a:gs>
            <a:gs pos="100000">
              <a:schemeClr val="phClr">
                <a:tint val="100000"/>
                <a:shade val="100000"/>
                <a:hueMod val="100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39000"/>
                <a:hueMod val="100000"/>
                <a:satMod val="150000"/>
              </a:schemeClr>
              <a:schemeClr val="phClr">
                <a:tint val="90000"/>
                <a:shade val="100000"/>
                <a:hueMod val="10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2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41391</TotalTime>
  <Words>1427</Words>
  <Application>Microsoft Office PowerPoint</Application>
  <PresentationFormat>Custom</PresentationFormat>
  <Paragraphs>473</Paragraphs>
  <Slides>51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Calligraphy</vt:lpstr>
      <vt:lpstr>Computer Science A</vt:lpstr>
      <vt:lpstr>OBJECTIVE</vt:lpstr>
      <vt:lpstr>UNIT at a Glance</vt:lpstr>
      <vt:lpstr>UNIT at a Glance</vt:lpstr>
      <vt:lpstr>1.1 Why Programming? Why Java?</vt:lpstr>
      <vt:lpstr>1.1 Why Programming? Why Java?</vt:lpstr>
      <vt:lpstr>1.1 Why Programming? Why Java?</vt:lpstr>
      <vt:lpstr>1.1 Why Programming? Why Java?</vt:lpstr>
      <vt:lpstr>1.1 Why Programming? Why Java?</vt:lpstr>
      <vt:lpstr>1.1 Why Programming? Why Java?</vt:lpstr>
      <vt:lpstr>1.1 Why Programming? Why Java?</vt:lpstr>
      <vt:lpstr>1.1 Why Programming? Why Java?</vt:lpstr>
      <vt:lpstr>1.2 Variables and Data types</vt:lpstr>
      <vt:lpstr>1.2 Variables and Data types</vt:lpstr>
      <vt:lpstr>1.2 Variables and Data types</vt:lpstr>
      <vt:lpstr>1.2 Variables and Data types</vt:lpstr>
      <vt:lpstr>1.2 Variables and Data types</vt:lpstr>
      <vt:lpstr>1.2 Variables and Data types</vt:lpstr>
      <vt:lpstr>1.2 Variables and Data types</vt:lpstr>
      <vt:lpstr>1.2 Variables and Data types</vt:lpstr>
      <vt:lpstr>1.2 Variables and Data types</vt:lpstr>
      <vt:lpstr>1.2 Variables and Data types</vt:lpstr>
      <vt:lpstr>1.2 Variables and Data types</vt:lpstr>
      <vt:lpstr>1.2 Variables and Data types</vt:lpstr>
      <vt:lpstr>1.2 Variables and Data types</vt:lpstr>
      <vt:lpstr>1.2 Variables and Data types</vt:lpstr>
      <vt:lpstr>1.2 Variables and Data types</vt:lpstr>
      <vt:lpstr>1.2 Variables and Data types</vt:lpstr>
      <vt:lpstr>1.3 Expressions and assignment statements</vt:lpstr>
      <vt:lpstr>1.3 Expressions and assignment statements</vt:lpstr>
      <vt:lpstr>1.3 Expressions and assignment statements</vt:lpstr>
      <vt:lpstr>1.3 Expressions and assignment statements</vt:lpstr>
      <vt:lpstr>1.3 Expressions and assignment statements</vt:lpstr>
      <vt:lpstr>1.3 Expressions and assignment statements</vt:lpstr>
      <vt:lpstr>1.3 Expressions and assignment statements</vt:lpstr>
      <vt:lpstr>1.3 Expressions and assignment statements</vt:lpstr>
      <vt:lpstr>1.3 Expressions and assignment statements</vt:lpstr>
      <vt:lpstr>1.3 Expressions and assignment statements</vt:lpstr>
      <vt:lpstr>1.3 Expressions and assignment statements</vt:lpstr>
      <vt:lpstr>1.4 Compound assignment Operators</vt:lpstr>
      <vt:lpstr>1.4 Compound assignment Operators</vt:lpstr>
      <vt:lpstr>1.4 Compound assignment Operators</vt:lpstr>
      <vt:lpstr>1.4 Compound assignment Operators</vt:lpstr>
      <vt:lpstr>1.5 Casting and ranges of variable</vt:lpstr>
      <vt:lpstr>1.5 Casting and ranges of variable</vt:lpstr>
      <vt:lpstr>1.5 Casting and ranges of variable</vt:lpstr>
      <vt:lpstr>1.5 Casting and ranges of variable</vt:lpstr>
      <vt:lpstr>1.5 Casting and ranges of variable</vt:lpstr>
      <vt:lpstr>1.5 Casting and ranges of variable</vt:lpstr>
      <vt:lpstr>1.5 Casting and ranges of variable</vt:lpstr>
      <vt:lpstr>1.5 Casting and ranges of variable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</dc:title>
  <dc:creator>lenovo</dc:creator>
  <cp:lastModifiedBy>lenovo</cp:lastModifiedBy>
  <cp:revision>812</cp:revision>
  <dcterms:created xsi:type="dcterms:W3CDTF">2021-04-30T06:53:03Z</dcterms:created>
  <dcterms:modified xsi:type="dcterms:W3CDTF">2024-04-11T05:39:44Z</dcterms:modified>
</cp:coreProperties>
</file>