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801600" cy="6400800"/>
  <p:notesSz cx="6858000" cy="9144000"/>
  <p:defaultTextStyle>
    <a:defPPr>
      <a:defRPr lang="zh-CN"/>
    </a:defPPr>
    <a:lvl1pPr marL="0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02" autoAdjust="0"/>
  </p:normalViewPr>
  <p:slideViewPr>
    <p:cSldViewPr>
      <p:cViewPr varScale="1">
        <p:scale>
          <a:sx n="70" d="100"/>
          <a:sy n="70" d="100"/>
        </p:scale>
        <p:origin x="-348" y="-60"/>
      </p:cViewPr>
      <p:guideLst>
        <p:guide orient="horz" pos="2016"/>
        <p:guide pos="4032"/>
      </p:guideLst>
    </p:cSldViewPr>
  </p:slideViewPr>
  <p:outlineViewPr>
    <p:cViewPr>
      <p:scale>
        <a:sx n="33" d="100"/>
        <a:sy n="33" d="100"/>
      </p:scale>
      <p:origin x="0" y="2766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664" y="-6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4806B-6C69-44F5-A0B5-00896F9CC841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45E02-A950-4239-9FA7-D3B93049B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93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0ED2B-34DC-4645-8A7F-6D1F0FC0483F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DF59B-BB8D-462E-BB6A-1FA2D8C88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4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3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66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849120"/>
            <a:ext cx="10881360" cy="1751334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3600454"/>
            <a:ext cx="8961120" cy="16363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 altLang="zh-CN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B42E-195B-47C7-9BE8-58D3AEB3A908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>
            <a:lvl1pPr>
              <a:defRPr sz="1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altLang="zh-CN" dirty="0" smtClean="0"/>
              <a:t>H14Z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9F13-3974-44AC-A39B-7EDE68229D4F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1"/>
            <a:ext cx="2987040" cy="3048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H14Z 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597209"/>
            <a:ext cx="10881360" cy="1736794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2199334"/>
            <a:ext cx="10881360" cy="140112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61" indent="0" algn="l">
              <a:buNone/>
              <a:defRPr sz="1800">
                <a:solidFill>
                  <a:schemeClr val="tx2"/>
                </a:solidFill>
              </a:defRPr>
            </a:lvl2pPr>
            <a:lvl3pPr marL="914322" indent="0" algn="l">
              <a:buNone/>
              <a:defRPr sz="1600">
                <a:solidFill>
                  <a:schemeClr val="tx2"/>
                </a:solidFill>
              </a:defRPr>
            </a:lvl3pPr>
            <a:lvl4pPr marL="1371483" indent="0" algn="l">
              <a:buNone/>
              <a:defRPr sz="1400">
                <a:solidFill>
                  <a:schemeClr val="tx2"/>
                </a:solidFill>
              </a:defRPr>
            </a:lvl4pPr>
            <a:lvl5pPr marL="1828643" indent="0" algn="l">
              <a:buNone/>
              <a:defRPr sz="1400">
                <a:solidFill>
                  <a:schemeClr val="tx2"/>
                </a:solidFill>
              </a:defRPr>
            </a:lvl5pPr>
            <a:lvl6pPr marL="22858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15B0-2DB9-4967-9744-AEAF73DEEBF8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BBCE-E569-4B8B-BD3B-68FF18CADE4B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32773"/>
            <a:ext cx="5656264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029884"/>
            <a:ext cx="5656264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9" y="1432773"/>
            <a:ext cx="5658486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9" y="2029884"/>
            <a:ext cx="5658486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173B-DB4E-4EC8-ACB3-28A98CC754C5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F100-1CB6-4FC0-8A0C-2C98B282916F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1D0-DB12-4C86-A2B6-B1B99BBCEB28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62" y="355603"/>
            <a:ext cx="3733800" cy="1711317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920" y="355603"/>
            <a:ext cx="7574280" cy="53621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762" y="2066918"/>
            <a:ext cx="3733800" cy="3651370"/>
          </a:xfrm>
        </p:spPr>
        <p:txBody>
          <a:bodyPr/>
          <a:lstStyle>
            <a:lvl1pPr marL="0" indent="0">
              <a:buNone/>
              <a:defRPr sz="14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3" indent="0">
              <a:buNone/>
              <a:defRPr sz="900"/>
            </a:lvl4pPr>
            <a:lvl5pPr marL="1828643" indent="0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B0F76-376B-441D-A1AC-FAAD4DD227FC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212665" y="516822"/>
            <a:ext cx="10288942" cy="4425429"/>
            <a:chOff x="428596" y="553734"/>
            <a:chExt cx="7349244" cy="4741531"/>
          </a:xfrm>
        </p:grpSpPr>
        <p:sp>
          <p:nvSpPr>
            <p:cNvPr id="16" name="Rectangle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Rectangle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12677" y="571925"/>
            <a:ext cx="10101334" cy="4295364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161" indent="0">
              <a:buNone/>
              <a:defRPr sz="2800"/>
            </a:lvl2pPr>
            <a:lvl3pPr marL="914322" indent="0">
              <a:buNone/>
              <a:defRPr sz="2400"/>
            </a:lvl3pPr>
            <a:lvl4pPr marL="1371483" indent="0">
              <a:buNone/>
              <a:defRPr sz="2000"/>
            </a:lvl4pPr>
            <a:lvl5pPr marL="1828643" indent="0">
              <a:buNone/>
              <a:defRPr sz="2000"/>
            </a:lvl5pPr>
            <a:lvl6pPr marL="2285804" indent="0">
              <a:buNone/>
              <a:defRPr sz="2000"/>
            </a:lvl6pPr>
            <a:lvl7pPr marL="2742965" indent="0">
              <a:buNone/>
              <a:defRPr sz="2000"/>
            </a:lvl7pPr>
            <a:lvl8pPr marL="3200126" indent="0">
              <a:buNone/>
              <a:defRPr sz="2000"/>
            </a:lvl8pPr>
            <a:lvl9pPr marL="3657286" indent="0">
              <a:buNone/>
              <a:defRPr sz="2000"/>
            </a:lvl9pPr>
          </a:lstStyle>
          <a:p>
            <a:r>
              <a:rPr kumimoji="0" lang="en-US" altLang="zh-CN" smtClean="0"/>
              <a:t>Click icon to add picture</a:t>
            </a:r>
            <a:endParaRPr kumimoji="0" lang="en-US"/>
          </a:p>
        </p:txBody>
      </p:sp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55610"/>
            <a:ext cx="1900206" cy="5311812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0273" y="5116217"/>
            <a:ext cx="10101334" cy="751205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161" indent="0" algn="ctr">
              <a:buNone/>
              <a:defRPr sz="1200"/>
            </a:lvl2pPr>
            <a:lvl3pPr marL="914322" indent="0" algn="ctr">
              <a:buNone/>
              <a:defRPr sz="1000"/>
            </a:lvl3pPr>
            <a:lvl4pPr marL="1371483" indent="0" algn="ctr">
              <a:buNone/>
              <a:defRPr sz="900"/>
            </a:lvl4pPr>
            <a:lvl5pPr marL="1828643" indent="0" algn="ctr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CFCBD-BF76-4BA9-A7C9-74B20721CB65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3460-BC43-4E5D-A0AC-FB61A3D4B379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1305" y="256331"/>
            <a:ext cx="1960218" cy="5461424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3" y="256331"/>
            <a:ext cx="9561222" cy="5461424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C44B-850B-4B42-A13A-A08A9D6C7D67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1066800"/>
          </a:xfrm>
          <a:prstGeom prst="rect">
            <a:avLst/>
          </a:prstGeom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93520"/>
            <a:ext cx="11521440" cy="440944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  <a:p>
            <a:pPr lvl="1" eaLnBrk="1" latinLnBrk="0" hangingPunct="1"/>
            <a:r>
              <a:rPr kumimoji="0" lang="en-US" altLang="zh-CN" smtClean="0"/>
              <a:t>Second level</a:t>
            </a:r>
          </a:p>
          <a:p>
            <a:pPr lvl="2" eaLnBrk="1" latinLnBrk="0" hangingPunct="1"/>
            <a:r>
              <a:rPr kumimoji="0" lang="en-US" altLang="zh-CN" smtClean="0"/>
              <a:t>Third level</a:t>
            </a:r>
          </a:p>
          <a:p>
            <a:pPr lvl="3" eaLnBrk="1" latinLnBrk="0" hangingPunct="1"/>
            <a:r>
              <a:rPr kumimoji="0" lang="en-US" altLang="zh-CN" smtClean="0"/>
              <a:t>Fourth level</a:t>
            </a:r>
          </a:p>
          <a:p>
            <a:pPr lvl="4" eaLnBrk="1" latinLnBrk="0" hangingPunct="1"/>
            <a:r>
              <a:rPr kumimoji="0"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0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59A-A439-49EB-9E71-9424FF1084D3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051733"/>
            <a:ext cx="40538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9702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870" indent="-34287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86" indent="-285725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2" indent="-22858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3" indent="-22858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3" indent="-22858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4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45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0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6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index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Computer Science 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lnSpcReduction="10000"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>
                <a:solidFill>
                  <a:schemeClr val="tx1"/>
                </a:solidFill>
              </a:rPr>
              <a:t>Session2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HN14Z 1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5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482225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984741"/>
            <a:ext cx="11805920" cy="5251939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 startAt="6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Objects: Concatenation, Literals and More</a:t>
            </a:r>
          </a:p>
          <a:p>
            <a:pPr marL="457200" indent="-457200" algn="just">
              <a:buAutoNum type="arabicPeriod" startAt="6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Methods</a:t>
            </a:r>
          </a:p>
          <a:p>
            <a:pPr marL="457200" indent="-457200" algn="just">
              <a:buAutoNum type="arabicPeriod" startAt="6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Wrapper Classes: Integer and Double</a:t>
            </a:r>
          </a:p>
          <a:p>
            <a:pPr marL="457200" indent="-457200" algn="just">
              <a:buAutoNum type="arabicPeriod" startAt="6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Using the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Math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Class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t>2</a:t>
            </a:fld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22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2860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990600"/>
            <a:ext cx="4705350" cy="512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25633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5766"/>
            <a:ext cx="6733118" cy="5358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18" y="2438400"/>
            <a:ext cx="6068482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7530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Primitive Type  vs. Reference Type: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Type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means we are talking about data type, the data type can be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, double and String.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1. Primitive Type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The primitive type variable holds the value directly , </a:t>
            </a: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and double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are primitive type.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         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 variable of type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can store integer values as given below.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	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		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x=5; 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                                                                                             x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double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 variable of type double can store fractional numbers as given below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double height=5.6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                                     height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2. Reference Type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The reference type variable holds address of the memory location where value is store.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String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and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any object of a class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are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reference type.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1800" y="2895600"/>
            <a:ext cx="1295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29400" y="4191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5.6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883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String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 variable of type String holds the address of the value as given below.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String name=“Steven”;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                                                       </a:t>
            </a:r>
            <a:r>
              <a:rPr lang="en-US" altLang="zh-C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0     1    2    3    4   5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		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6200" y="20574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XXF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1000" y="2558534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334000" y="2247900"/>
            <a:ext cx="2667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615835"/>
              </p:ext>
            </p:extLst>
          </p:nvPr>
        </p:nvGraphicFramePr>
        <p:xfrm>
          <a:off x="8305800" y="1981200"/>
          <a:ext cx="2209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"/>
                <a:gridCol w="368300"/>
                <a:gridCol w="368300"/>
                <a:gridCol w="368300"/>
                <a:gridCol w="368300"/>
                <a:gridCol w="3683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Freeform 12"/>
          <p:cNvSpPr/>
          <p:nvPr/>
        </p:nvSpPr>
        <p:spPr>
          <a:xfrm>
            <a:off x="7391400" y="1221768"/>
            <a:ext cx="3467477" cy="3042864"/>
          </a:xfrm>
          <a:custGeom>
            <a:avLst/>
            <a:gdLst>
              <a:gd name="connsiteX0" fmla="*/ 968720 w 3467477"/>
              <a:gd name="connsiteY0" fmla="*/ 597977 h 3042864"/>
              <a:gd name="connsiteX1" fmla="*/ 968720 w 3467477"/>
              <a:gd name="connsiteY1" fmla="*/ 597977 h 3042864"/>
              <a:gd name="connsiteX2" fmla="*/ 896293 w 3467477"/>
              <a:gd name="connsiteY2" fmla="*/ 570816 h 3042864"/>
              <a:gd name="connsiteX3" fmla="*/ 642796 w 3467477"/>
              <a:gd name="connsiteY3" fmla="*/ 597977 h 3042864"/>
              <a:gd name="connsiteX4" fmla="*/ 606582 w 3467477"/>
              <a:gd name="connsiteY4" fmla="*/ 634191 h 3042864"/>
              <a:gd name="connsiteX5" fmla="*/ 552261 w 3467477"/>
              <a:gd name="connsiteY5" fmla="*/ 670404 h 3042864"/>
              <a:gd name="connsiteX6" fmla="*/ 488887 w 3467477"/>
              <a:gd name="connsiteY6" fmla="*/ 724725 h 3042864"/>
              <a:gd name="connsiteX7" fmla="*/ 470780 w 3467477"/>
              <a:gd name="connsiteY7" fmla="*/ 751886 h 3042864"/>
              <a:gd name="connsiteX8" fmla="*/ 443620 w 3467477"/>
              <a:gd name="connsiteY8" fmla="*/ 760939 h 3042864"/>
              <a:gd name="connsiteX9" fmla="*/ 416459 w 3467477"/>
              <a:gd name="connsiteY9" fmla="*/ 779046 h 3042864"/>
              <a:gd name="connsiteX10" fmla="*/ 380245 w 3467477"/>
              <a:gd name="connsiteY10" fmla="*/ 833367 h 3042864"/>
              <a:gd name="connsiteX11" fmla="*/ 371192 w 3467477"/>
              <a:gd name="connsiteY11" fmla="*/ 860527 h 3042864"/>
              <a:gd name="connsiteX12" fmla="*/ 353085 w 3467477"/>
              <a:gd name="connsiteY12" fmla="*/ 887688 h 3042864"/>
              <a:gd name="connsiteX13" fmla="*/ 334978 w 3467477"/>
              <a:gd name="connsiteY13" fmla="*/ 942008 h 3042864"/>
              <a:gd name="connsiteX14" fmla="*/ 316871 w 3467477"/>
              <a:gd name="connsiteY14" fmla="*/ 1077810 h 3042864"/>
              <a:gd name="connsiteX15" fmla="*/ 298764 w 3467477"/>
              <a:gd name="connsiteY15" fmla="*/ 1132131 h 3042864"/>
              <a:gd name="connsiteX16" fmla="*/ 280657 w 3467477"/>
              <a:gd name="connsiteY16" fmla="*/ 1159292 h 3042864"/>
              <a:gd name="connsiteX17" fmla="*/ 262550 w 3467477"/>
              <a:gd name="connsiteY17" fmla="*/ 1213612 h 3042864"/>
              <a:gd name="connsiteX18" fmla="*/ 153909 w 3467477"/>
              <a:gd name="connsiteY18" fmla="*/ 1304147 h 3042864"/>
              <a:gd name="connsiteX19" fmla="*/ 99588 w 3467477"/>
              <a:gd name="connsiteY19" fmla="*/ 1322254 h 3042864"/>
              <a:gd name="connsiteX20" fmla="*/ 72427 w 3467477"/>
              <a:gd name="connsiteY20" fmla="*/ 1331307 h 3042864"/>
              <a:gd name="connsiteX21" fmla="*/ 45267 w 3467477"/>
              <a:gd name="connsiteY21" fmla="*/ 1349414 h 3042864"/>
              <a:gd name="connsiteX22" fmla="*/ 18107 w 3467477"/>
              <a:gd name="connsiteY22" fmla="*/ 1358468 h 3042864"/>
              <a:gd name="connsiteX23" fmla="*/ 0 w 3467477"/>
              <a:gd name="connsiteY23" fmla="*/ 1385628 h 3042864"/>
              <a:gd name="connsiteX24" fmla="*/ 9053 w 3467477"/>
              <a:gd name="connsiteY24" fmla="*/ 1593858 h 3042864"/>
              <a:gd name="connsiteX25" fmla="*/ 27160 w 3467477"/>
              <a:gd name="connsiteY25" fmla="*/ 1621018 h 3042864"/>
              <a:gd name="connsiteX26" fmla="*/ 36214 w 3467477"/>
              <a:gd name="connsiteY26" fmla="*/ 1648179 h 3042864"/>
              <a:gd name="connsiteX27" fmla="*/ 54320 w 3467477"/>
              <a:gd name="connsiteY27" fmla="*/ 1693446 h 3042864"/>
              <a:gd name="connsiteX28" fmla="*/ 63374 w 3467477"/>
              <a:gd name="connsiteY28" fmla="*/ 1720606 h 3042864"/>
              <a:gd name="connsiteX29" fmla="*/ 72427 w 3467477"/>
              <a:gd name="connsiteY29" fmla="*/ 1756820 h 3042864"/>
              <a:gd name="connsiteX30" fmla="*/ 99588 w 3467477"/>
              <a:gd name="connsiteY30" fmla="*/ 1774927 h 3042864"/>
              <a:gd name="connsiteX31" fmla="*/ 126748 w 3467477"/>
              <a:gd name="connsiteY31" fmla="*/ 1838301 h 3042864"/>
              <a:gd name="connsiteX32" fmla="*/ 144855 w 3467477"/>
              <a:gd name="connsiteY32" fmla="*/ 1865462 h 3042864"/>
              <a:gd name="connsiteX33" fmla="*/ 162962 w 3467477"/>
              <a:gd name="connsiteY33" fmla="*/ 1901676 h 3042864"/>
              <a:gd name="connsiteX34" fmla="*/ 226336 w 3467477"/>
              <a:gd name="connsiteY34" fmla="*/ 1983157 h 3042864"/>
              <a:gd name="connsiteX35" fmla="*/ 280657 w 3467477"/>
              <a:gd name="connsiteY35" fmla="*/ 2064638 h 3042864"/>
              <a:gd name="connsiteX36" fmla="*/ 316871 w 3467477"/>
              <a:gd name="connsiteY36" fmla="*/ 2100852 h 3042864"/>
              <a:gd name="connsiteX37" fmla="*/ 353085 w 3467477"/>
              <a:gd name="connsiteY37" fmla="*/ 2155173 h 3042864"/>
              <a:gd name="connsiteX38" fmla="*/ 380245 w 3467477"/>
              <a:gd name="connsiteY38" fmla="*/ 2173280 h 3042864"/>
              <a:gd name="connsiteX39" fmla="*/ 407406 w 3467477"/>
              <a:gd name="connsiteY39" fmla="*/ 2182333 h 3042864"/>
              <a:gd name="connsiteX40" fmla="*/ 443620 w 3467477"/>
              <a:gd name="connsiteY40" fmla="*/ 2200440 h 3042864"/>
              <a:gd name="connsiteX41" fmla="*/ 479833 w 3467477"/>
              <a:gd name="connsiteY41" fmla="*/ 2245707 h 3042864"/>
              <a:gd name="connsiteX42" fmla="*/ 516047 w 3467477"/>
              <a:gd name="connsiteY42" fmla="*/ 2300028 h 3042864"/>
              <a:gd name="connsiteX43" fmla="*/ 552261 w 3467477"/>
              <a:gd name="connsiteY43" fmla="*/ 2345295 h 3042864"/>
              <a:gd name="connsiteX44" fmla="*/ 570368 w 3467477"/>
              <a:gd name="connsiteY44" fmla="*/ 2372456 h 3042864"/>
              <a:gd name="connsiteX45" fmla="*/ 597528 w 3467477"/>
              <a:gd name="connsiteY45" fmla="*/ 2399616 h 3042864"/>
              <a:gd name="connsiteX46" fmla="*/ 615635 w 3467477"/>
              <a:gd name="connsiteY46" fmla="*/ 2426777 h 3042864"/>
              <a:gd name="connsiteX47" fmla="*/ 679010 w 3467477"/>
              <a:gd name="connsiteY47" fmla="*/ 2490151 h 3042864"/>
              <a:gd name="connsiteX48" fmla="*/ 706170 w 3467477"/>
              <a:gd name="connsiteY48" fmla="*/ 2517311 h 3042864"/>
              <a:gd name="connsiteX49" fmla="*/ 724277 w 3467477"/>
              <a:gd name="connsiteY49" fmla="*/ 2544472 h 3042864"/>
              <a:gd name="connsiteX50" fmla="*/ 805758 w 3467477"/>
              <a:gd name="connsiteY50" fmla="*/ 2589739 h 3042864"/>
              <a:gd name="connsiteX51" fmla="*/ 832919 w 3467477"/>
              <a:gd name="connsiteY51" fmla="*/ 2607846 h 3042864"/>
              <a:gd name="connsiteX52" fmla="*/ 860079 w 3467477"/>
              <a:gd name="connsiteY52" fmla="*/ 2635006 h 3042864"/>
              <a:gd name="connsiteX53" fmla="*/ 896293 w 3467477"/>
              <a:gd name="connsiteY53" fmla="*/ 2644060 h 3042864"/>
              <a:gd name="connsiteX54" fmla="*/ 932507 w 3467477"/>
              <a:gd name="connsiteY54" fmla="*/ 2671220 h 3042864"/>
              <a:gd name="connsiteX55" fmla="*/ 986827 w 3467477"/>
              <a:gd name="connsiteY55" fmla="*/ 2716488 h 3042864"/>
              <a:gd name="connsiteX56" fmla="*/ 1077362 w 3467477"/>
              <a:gd name="connsiteY56" fmla="*/ 2725541 h 3042864"/>
              <a:gd name="connsiteX57" fmla="*/ 1285592 w 3467477"/>
              <a:gd name="connsiteY57" fmla="*/ 2743648 h 3042864"/>
              <a:gd name="connsiteX58" fmla="*/ 1321806 w 3467477"/>
              <a:gd name="connsiteY58" fmla="*/ 2761755 h 3042864"/>
              <a:gd name="connsiteX59" fmla="*/ 1376126 w 3467477"/>
              <a:gd name="connsiteY59" fmla="*/ 2779862 h 3042864"/>
              <a:gd name="connsiteX60" fmla="*/ 1439501 w 3467477"/>
              <a:gd name="connsiteY60" fmla="*/ 2834183 h 3042864"/>
              <a:gd name="connsiteX61" fmla="*/ 1475715 w 3467477"/>
              <a:gd name="connsiteY61" fmla="*/ 2888503 h 3042864"/>
              <a:gd name="connsiteX62" fmla="*/ 1511928 w 3467477"/>
              <a:gd name="connsiteY62" fmla="*/ 2915664 h 3042864"/>
              <a:gd name="connsiteX63" fmla="*/ 1530035 w 3467477"/>
              <a:gd name="connsiteY63" fmla="*/ 2942824 h 3042864"/>
              <a:gd name="connsiteX64" fmla="*/ 1656784 w 3467477"/>
              <a:gd name="connsiteY64" fmla="*/ 2969985 h 3042864"/>
              <a:gd name="connsiteX65" fmla="*/ 1720158 w 3467477"/>
              <a:gd name="connsiteY65" fmla="*/ 2979038 h 3042864"/>
              <a:gd name="connsiteX66" fmla="*/ 1756372 w 3467477"/>
              <a:gd name="connsiteY66" fmla="*/ 2988092 h 3042864"/>
              <a:gd name="connsiteX67" fmla="*/ 1901227 w 3467477"/>
              <a:gd name="connsiteY67" fmla="*/ 3006198 h 3042864"/>
              <a:gd name="connsiteX68" fmla="*/ 2000816 w 3467477"/>
              <a:gd name="connsiteY68" fmla="*/ 3033359 h 3042864"/>
              <a:gd name="connsiteX69" fmla="*/ 2299580 w 3467477"/>
              <a:gd name="connsiteY69" fmla="*/ 3033359 h 3042864"/>
              <a:gd name="connsiteX70" fmla="*/ 2353901 w 3467477"/>
              <a:gd name="connsiteY70" fmla="*/ 2997145 h 3042864"/>
              <a:gd name="connsiteX71" fmla="*/ 2399168 w 3467477"/>
              <a:gd name="connsiteY71" fmla="*/ 2960931 h 3042864"/>
              <a:gd name="connsiteX72" fmla="*/ 2417275 w 3467477"/>
              <a:gd name="connsiteY72" fmla="*/ 2933771 h 3042864"/>
              <a:gd name="connsiteX73" fmla="*/ 2435382 w 3467477"/>
              <a:gd name="connsiteY73" fmla="*/ 2852290 h 3042864"/>
              <a:gd name="connsiteX74" fmla="*/ 2498756 w 3467477"/>
              <a:gd name="connsiteY74" fmla="*/ 2779862 h 3042864"/>
              <a:gd name="connsiteX75" fmla="*/ 2516863 w 3467477"/>
              <a:gd name="connsiteY75" fmla="*/ 2752701 h 3042864"/>
              <a:gd name="connsiteX76" fmla="*/ 2625505 w 3467477"/>
              <a:gd name="connsiteY76" fmla="*/ 2707434 h 3042864"/>
              <a:gd name="connsiteX77" fmla="*/ 2706986 w 3467477"/>
              <a:gd name="connsiteY77" fmla="*/ 2671220 h 3042864"/>
              <a:gd name="connsiteX78" fmla="*/ 2815627 w 3467477"/>
              <a:gd name="connsiteY78" fmla="*/ 2653113 h 3042864"/>
              <a:gd name="connsiteX79" fmla="*/ 2915216 w 3467477"/>
              <a:gd name="connsiteY79" fmla="*/ 2616899 h 3042864"/>
              <a:gd name="connsiteX80" fmla="*/ 2996697 w 3467477"/>
              <a:gd name="connsiteY80" fmla="*/ 2598793 h 3042864"/>
              <a:gd name="connsiteX81" fmla="*/ 3069124 w 3467477"/>
              <a:gd name="connsiteY81" fmla="*/ 2589739 h 3042864"/>
              <a:gd name="connsiteX82" fmla="*/ 3123445 w 3467477"/>
              <a:gd name="connsiteY82" fmla="*/ 2571632 h 3042864"/>
              <a:gd name="connsiteX83" fmla="*/ 3150606 w 3467477"/>
              <a:gd name="connsiteY83" fmla="*/ 2562579 h 3042864"/>
              <a:gd name="connsiteX84" fmla="*/ 3204926 w 3467477"/>
              <a:gd name="connsiteY84" fmla="*/ 2526365 h 3042864"/>
              <a:gd name="connsiteX85" fmla="*/ 3232087 w 3467477"/>
              <a:gd name="connsiteY85" fmla="*/ 2508258 h 3042864"/>
              <a:gd name="connsiteX86" fmla="*/ 3286408 w 3467477"/>
              <a:gd name="connsiteY86" fmla="*/ 2444884 h 3042864"/>
              <a:gd name="connsiteX87" fmla="*/ 3313568 w 3467477"/>
              <a:gd name="connsiteY87" fmla="*/ 2417723 h 3042864"/>
              <a:gd name="connsiteX88" fmla="*/ 3358835 w 3467477"/>
              <a:gd name="connsiteY88" fmla="*/ 2363402 h 3042864"/>
              <a:gd name="connsiteX89" fmla="*/ 3376942 w 3467477"/>
              <a:gd name="connsiteY89" fmla="*/ 2300028 h 3042864"/>
              <a:gd name="connsiteX90" fmla="*/ 3413156 w 3467477"/>
              <a:gd name="connsiteY90" fmla="*/ 2236654 h 3042864"/>
              <a:gd name="connsiteX91" fmla="*/ 3431263 w 3467477"/>
              <a:gd name="connsiteY91" fmla="*/ 2146119 h 3042864"/>
              <a:gd name="connsiteX92" fmla="*/ 3440317 w 3467477"/>
              <a:gd name="connsiteY92" fmla="*/ 1974103 h 3042864"/>
              <a:gd name="connsiteX93" fmla="*/ 3467477 w 3467477"/>
              <a:gd name="connsiteY93" fmla="*/ 1883569 h 3042864"/>
              <a:gd name="connsiteX94" fmla="*/ 3458423 w 3467477"/>
              <a:gd name="connsiteY94" fmla="*/ 1820194 h 3042864"/>
              <a:gd name="connsiteX95" fmla="*/ 3440317 w 3467477"/>
              <a:gd name="connsiteY95" fmla="*/ 1793034 h 3042864"/>
              <a:gd name="connsiteX96" fmla="*/ 3413156 w 3467477"/>
              <a:gd name="connsiteY96" fmla="*/ 1738713 h 3042864"/>
              <a:gd name="connsiteX97" fmla="*/ 3376942 w 3467477"/>
              <a:gd name="connsiteY97" fmla="*/ 1675339 h 3042864"/>
              <a:gd name="connsiteX98" fmla="*/ 3349782 w 3467477"/>
              <a:gd name="connsiteY98" fmla="*/ 1584804 h 3042864"/>
              <a:gd name="connsiteX99" fmla="*/ 3367889 w 3467477"/>
              <a:gd name="connsiteY99" fmla="*/ 1385628 h 3042864"/>
              <a:gd name="connsiteX100" fmla="*/ 3385996 w 3467477"/>
              <a:gd name="connsiteY100" fmla="*/ 1340361 h 3042864"/>
              <a:gd name="connsiteX101" fmla="*/ 3367889 w 3467477"/>
              <a:gd name="connsiteY101" fmla="*/ 1059703 h 3042864"/>
              <a:gd name="connsiteX102" fmla="*/ 3358835 w 3467477"/>
              <a:gd name="connsiteY102" fmla="*/ 1032543 h 3042864"/>
              <a:gd name="connsiteX103" fmla="*/ 3349782 w 3467477"/>
              <a:gd name="connsiteY103" fmla="*/ 969169 h 3042864"/>
              <a:gd name="connsiteX104" fmla="*/ 3340728 w 3467477"/>
              <a:gd name="connsiteY104" fmla="*/ 942008 h 3042864"/>
              <a:gd name="connsiteX105" fmla="*/ 3331675 w 3467477"/>
              <a:gd name="connsiteY105" fmla="*/ 842420 h 3042864"/>
              <a:gd name="connsiteX106" fmla="*/ 3304515 w 3467477"/>
              <a:gd name="connsiteY106" fmla="*/ 815260 h 3042864"/>
              <a:gd name="connsiteX107" fmla="*/ 3286408 w 3467477"/>
              <a:gd name="connsiteY107" fmla="*/ 779046 h 3042864"/>
              <a:gd name="connsiteX108" fmla="*/ 3232087 w 3467477"/>
              <a:gd name="connsiteY108" fmla="*/ 733779 h 3042864"/>
              <a:gd name="connsiteX109" fmla="*/ 3150606 w 3467477"/>
              <a:gd name="connsiteY109" fmla="*/ 670404 h 3042864"/>
              <a:gd name="connsiteX110" fmla="*/ 3114392 w 3467477"/>
              <a:gd name="connsiteY110" fmla="*/ 652297 h 3042864"/>
              <a:gd name="connsiteX111" fmla="*/ 3032911 w 3467477"/>
              <a:gd name="connsiteY111" fmla="*/ 588923 h 3042864"/>
              <a:gd name="connsiteX112" fmla="*/ 3014804 w 3467477"/>
              <a:gd name="connsiteY112" fmla="*/ 561763 h 3042864"/>
              <a:gd name="connsiteX113" fmla="*/ 2960483 w 3467477"/>
              <a:gd name="connsiteY113" fmla="*/ 525549 h 3042864"/>
              <a:gd name="connsiteX114" fmla="*/ 2942376 w 3467477"/>
              <a:gd name="connsiteY114" fmla="*/ 498389 h 3042864"/>
              <a:gd name="connsiteX115" fmla="*/ 2888055 w 3467477"/>
              <a:gd name="connsiteY115" fmla="*/ 462175 h 3042864"/>
              <a:gd name="connsiteX116" fmla="*/ 2815627 w 3467477"/>
              <a:gd name="connsiteY116" fmla="*/ 416907 h 3042864"/>
              <a:gd name="connsiteX117" fmla="*/ 2788467 w 3467477"/>
              <a:gd name="connsiteY117" fmla="*/ 407854 h 3042864"/>
              <a:gd name="connsiteX118" fmla="*/ 2761307 w 3467477"/>
              <a:gd name="connsiteY118" fmla="*/ 380693 h 3042864"/>
              <a:gd name="connsiteX119" fmla="*/ 2598344 w 3467477"/>
              <a:gd name="connsiteY119" fmla="*/ 362587 h 3042864"/>
              <a:gd name="connsiteX120" fmla="*/ 2516863 w 3467477"/>
              <a:gd name="connsiteY120" fmla="*/ 244892 h 3042864"/>
              <a:gd name="connsiteX121" fmla="*/ 2489703 w 3467477"/>
              <a:gd name="connsiteY121" fmla="*/ 217731 h 3042864"/>
              <a:gd name="connsiteX122" fmla="*/ 2462542 w 3467477"/>
              <a:gd name="connsiteY122" fmla="*/ 199624 h 3042864"/>
              <a:gd name="connsiteX123" fmla="*/ 2335794 w 3467477"/>
              <a:gd name="connsiteY123" fmla="*/ 54769 h 3042864"/>
              <a:gd name="connsiteX124" fmla="*/ 2308633 w 3467477"/>
              <a:gd name="connsiteY124" fmla="*/ 36662 h 3042864"/>
              <a:gd name="connsiteX125" fmla="*/ 2281473 w 3467477"/>
              <a:gd name="connsiteY125" fmla="*/ 27608 h 3042864"/>
              <a:gd name="connsiteX126" fmla="*/ 2227152 w 3467477"/>
              <a:gd name="connsiteY126" fmla="*/ 9501 h 3042864"/>
              <a:gd name="connsiteX127" fmla="*/ 2172831 w 3467477"/>
              <a:gd name="connsiteY127" fmla="*/ 45715 h 3042864"/>
              <a:gd name="connsiteX128" fmla="*/ 2127564 w 3467477"/>
              <a:gd name="connsiteY128" fmla="*/ 81929 h 3042864"/>
              <a:gd name="connsiteX129" fmla="*/ 2109457 w 3467477"/>
              <a:gd name="connsiteY129" fmla="*/ 109090 h 3042864"/>
              <a:gd name="connsiteX130" fmla="*/ 2018922 w 3467477"/>
              <a:gd name="connsiteY130" fmla="*/ 163410 h 3042864"/>
              <a:gd name="connsiteX131" fmla="*/ 1991762 w 3467477"/>
              <a:gd name="connsiteY131" fmla="*/ 181517 h 3042864"/>
              <a:gd name="connsiteX132" fmla="*/ 1928388 w 3467477"/>
              <a:gd name="connsiteY132" fmla="*/ 199624 h 3042864"/>
              <a:gd name="connsiteX133" fmla="*/ 1584356 w 3467477"/>
              <a:gd name="connsiteY133" fmla="*/ 226785 h 3042864"/>
              <a:gd name="connsiteX134" fmla="*/ 1484768 w 3467477"/>
              <a:gd name="connsiteY134" fmla="*/ 253945 h 3042864"/>
              <a:gd name="connsiteX135" fmla="*/ 1457608 w 3467477"/>
              <a:gd name="connsiteY135" fmla="*/ 272052 h 3042864"/>
              <a:gd name="connsiteX136" fmla="*/ 1430447 w 3467477"/>
              <a:gd name="connsiteY136" fmla="*/ 281105 h 3042864"/>
              <a:gd name="connsiteX137" fmla="*/ 1421394 w 3467477"/>
              <a:gd name="connsiteY137" fmla="*/ 308266 h 3042864"/>
              <a:gd name="connsiteX138" fmla="*/ 1358020 w 3467477"/>
              <a:gd name="connsiteY138" fmla="*/ 335426 h 3042864"/>
              <a:gd name="connsiteX139" fmla="*/ 1204111 w 3467477"/>
              <a:gd name="connsiteY139" fmla="*/ 344480 h 3042864"/>
              <a:gd name="connsiteX140" fmla="*/ 1167897 w 3467477"/>
              <a:gd name="connsiteY140" fmla="*/ 353533 h 3042864"/>
              <a:gd name="connsiteX141" fmla="*/ 1023041 w 3467477"/>
              <a:gd name="connsiteY141" fmla="*/ 380693 h 3042864"/>
              <a:gd name="connsiteX142" fmla="*/ 995881 w 3467477"/>
              <a:gd name="connsiteY142" fmla="*/ 398800 h 3042864"/>
              <a:gd name="connsiteX143" fmla="*/ 986827 w 3467477"/>
              <a:gd name="connsiteY143" fmla="*/ 425961 h 3042864"/>
              <a:gd name="connsiteX144" fmla="*/ 968720 w 3467477"/>
              <a:gd name="connsiteY144" fmla="*/ 471228 h 3042864"/>
              <a:gd name="connsiteX145" fmla="*/ 914400 w 3467477"/>
              <a:gd name="connsiteY145" fmla="*/ 561763 h 3042864"/>
              <a:gd name="connsiteX146" fmla="*/ 905346 w 3467477"/>
              <a:gd name="connsiteY146" fmla="*/ 570816 h 3042864"/>
              <a:gd name="connsiteX147" fmla="*/ 660903 w 3467477"/>
              <a:gd name="connsiteY147" fmla="*/ 607030 h 3042864"/>
              <a:gd name="connsiteX148" fmla="*/ 660903 w 3467477"/>
              <a:gd name="connsiteY148" fmla="*/ 607030 h 3042864"/>
              <a:gd name="connsiteX149" fmla="*/ 660903 w 3467477"/>
              <a:gd name="connsiteY149" fmla="*/ 616084 h 3042864"/>
              <a:gd name="connsiteX150" fmla="*/ 851025 w 3467477"/>
              <a:gd name="connsiteY150" fmla="*/ 597977 h 3042864"/>
              <a:gd name="connsiteX151" fmla="*/ 932507 w 3467477"/>
              <a:gd name="connsiteY151" fmla="*/ 525549 h 304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3467477" h="3042864">
                <a:moveTo>
                  <a:pt x="968720" y="597977"/>
                </a:moveTo>
                <a:lnTo>
                  <a:pt x="968720" y="597977"/>
                </a:lnTo>
                <a:cubicBezTo>
                  <a:pt x="944578" y="588923"/>
                  <a:pt x="922065" y="571621"/>
                  <a:pt x="896293" y="570816"/>
                </a:cubicBezTo>
                <a:cubicBezTo>
                  <a:pt x="760181" y="566562"/>
                  <a:pt x="733499" y="575300"/>
                  <a:pt x="642796" y="597977"/>
                </a:cubicBezTo>
                <a:cubicBezTo>
                  <a:pt x="630725" y="610048"/>
                  <a:pt x="619913" y="623527"/>
                  <a:pt x="606582" y="634191"/>
                </a:cubicBezTo>
                <a:cubicBezTo>
                  <a:pt x="589589" y="647785"/>
                  <a:pt x="567649" y="655016"/>
                  <a:pt x="552261" y="670404"/>
                </a:cubicBezTo>
                <a:cubicBezTo>
                  <a:pt x="508353" y="714312"/>
                  <a:pt x="530251" y="697148"/>
                  <a:pt x="488887" y="724725"/>
                </a:cubicBezTo>
                <a:cubicBezTo>
                  <a:pt x="482851" y="733779"/>
                  <a:pt x="479277" y="745089"/>
                  <a:pt x="470780" y="751886"/>
                </a:cubicBezTo>
                <a:cubicBezTo>
                  <a:pt x="463328" y="757848"/>
                  <a:pt x="452156" y="756671"/>
                  <a:pt x="443620" y="760939"/>
                </a:cubicBezTo>
                <a:cubicBezTo>
                  <a:pt x="433888" y="765805"/>
                  <a:pt x="425513" y="773010"/>
                  <a:pt x="416459" y="779046"/>
                </a:cubicBezTo>
                <a:cubicBezTo>
                  <a:pt x="394933" y="843625"/>
                  <a:pt x="425456" y="765550"/>
                  <a:pt x="380245" y="833367"/>
                </a:cubicBezTo>
                <a:cubicBezTo>
                  <a:pt x="374951" y="841307"/>
                  <a:pt x="375460" y="851991"/>
                  <a:pt x="371192" y="860527"/>
                </a:cubicBezTo>
                <a:cubicBezTo>
                  <a:pt x="366326" y="870259"/>
                  <a:pt x="357504" y="877745"/>
                  <a:pt x="353085" y="887688"/>
                </a:cubicBezTo>
                <a:cubicBezTo>
                  <a:pt x="345333" y="905129"/>
                  <a:pt x="334978" y="942008"/>
                  <a:pt x="334978" y="942008"/>
                </a:cubicBezTo>
                <a:cubicBezTo>
                  <a:pt x="328791" y="1010064"/>
                  <a:pt x="332517" y="1025655"/>
                  <a:pt x="316871" y="1077810"/>
                </a:cubicBezTo>
                <a:cubicBezTo>
                  <a:pt x="311387" y="1096092"/>
                  <a:pt x="309351" y="1116250"/>
                  <a:pt x="298764" y="1132131"/>
                </a:cubicBezTo>
                <a:lnTo>
                  <a:pt x="280657" y="1159292"/>
                </a:lnTo>
                <a:cubicBezTo>
                  <a:pt x="274621" y="1177399"/>
                  <a:pt x="276046" y="1200116"/>
                  <a:pt x="262550" y="1213612"/>
                </a:cubicBezTo>
                <a:cubicBezTo>
                  <a:pt x="237338" y="1238824"/>
                  <a:pt x="191721" y="1291543"/>
                  <a:pt x="153909" y="1304147"/>
                </a:cubicBezTo>
                <a:lnTo>
                  <a:pt x="99588" y="1322254"/>
                </a:lnTo>
                <a:lnTo>
                  <a:pt x="72427" y="1331307"/>
                </a:lnTo>
                <a:cubicBezTo>
                  <a:pt x="63374" y="1337343"/>
                  <a:pt x="54999" y="1344548"/>
                  <a:pt x="45267" y="1349414"/>
                </a:cubicBezTo>
                <a:cubicBezTo>
                  <a:pt x="36731" y="1353682"/>
                  <a:pt x="25559" y="1352506"/>
                  <a:pt x="18107" y="1358468"/>
                </a:cubicBezTo>
                <a:cubicBezTo>
                  <a:pt x="9611" y="1365265"/>
                  <a:pt x="6036" y="1376575"/>
                  <a:pt x="0" y="1385628"/>
                </a:cubicBezTo>
                <a:cubicBezTo>
                  <a:pt x="3018" y="1455038"/>
                  <a:pt x="1090" y="1524840"/>
                  <a:pt x="9053" y="1593858"/>
                </a:cubicBezTo>
                <a:cubicBezTo>
                  <a:pt x="10300" y="1604667"/>
                  <a:pt x="22294" y="1611286"/>
                  <a:pt x="27160" y="1621018"/>
                </a:cubicBezTo>
                <a:cubicBezTo>
                  <a:pt x="31428" y="1629554"/>
                  <a:pt x="32863" y="1639243"/>
                  <a:pt x="36214" y="1648179"/>
                </a:cubicBezTo>
                <a:cubicBezTo>
                  <a:pt x="41920" y="1663396"/>
                  <a:pt x="48614" y="1678229"/>
                  <a:pt x="54320" y="1693446"/>
                </a:cubicBezTo>
                <a:cubicBezTo>
                  <a:pt x="57671" y="1702382"/>
                  <a:pt x="60752" y="1711430"/>
                  <a:pt x="63374" y="1720606"/>
                </a:cubicBezTo>
                <a:cubicBezTo>
                  <a:pt x="66792" y="1732570"/>
                  <a:pt x="65525" y="1746467"/>
                  <a:pt x="72427" y="1756820"/>
                </a:cubicBezTo>
                <a:cubicBezTo>
                  <a:pt x="78463" y="1765874"/>
                  <a:pt x="90534" y="1768891"/>
                  <a:pt x="99588" y="1774927"/>
                </a:cubicBezTo>
                <a:cubicBezTo>
                  <a:pt x="145047" y="1843117"/>
                  <a:pt x="91671" y="1756453"/>
                  <a:pt x="126748" y="1838301"/>
                </a:cubicBezTo>
                <a:cubicBezTo>
                  <a:pt x="131034" y="1848302"/>
                  <a:pt x="139456" y="1856015"/>
                  <a:pt x="144855" y="1865462"/>
                </a:cubicBezTo>
                <a:cubicBezTo>
                  <a:pt x="151551" y="1877180"/>
                  <a:pt x="155280" y="1890580"/>
                  <a:pt x="162962" y="1901676"/>
                </a:cubicBezTo>
                <a:cubicBezTo>
                  <a:pt x="182548" y="1929966"/>
                  <a:pt x="210948" y="1952381"/>
                  <a:pt x="226336" y="1983157"/>
                </a:cubicBezTo>
                <a:cubicBezTo>
                  <a:pt x="248630" y="2027746"/>
                  <a:pt x="242389" y="2021587"/>
                  <a:pt x="280657" y="2064638"/>
                </a:cubicBezTo>
                <a:cubicBezTo>
                  <a:pt x="291999" y="2077397"/>
                  <a:pt x="306207" y="2087521"/>
                  <a:pt x="316871" y="2100852"/>
                </a:cubicBezTo>
                <a:cubicBezTo>
                  <a:pt x="330466" y="2117845"/>
                  <a:pt x="334978" y="2143102"/>
                  <a:pt x="353085" y="2155173"/>
                </a:cubicBezTo>
                <a:cubicBezTo>
                  <a:pt x="362138" y="2161209"/>
                  <a:pt x="370513" y="2168414"/>
                  <a:pt x="380245" y="2173280"/>
                </a:cubicBezTo>
                <a:cubicBezTo>
                  <a:pt x="388781" y="2177548"/>
                  <a:pt x="398634" y="2178574"/>
                  <a:pt x="407406" y="2182333"/>
                </a:cubicBezTo>
                <a:cubicBezTo>
                  <a:pt x="419811" y="2187649"/>
                  <a:pt x="431549" y="2194404"/>
                  <a:pt x="443620" y="2200440"/>
                </a:cubicBezTo>
                <a:cubicBezTo>
                  <a:pt x="455691" y="2215529"/>
                  <a:pt x="468468" y="2230080"/>
                  <a:pt x="479833" y="2245707"/>
                </a:cubicBezTo>
                <a:cubicBezTo>
                  <a:pt x="492633" y="2263307"/>
                  <a:pt x="502452" y="2283035"/>
                  <a:pt x="516047" y="2300028"/>
                </a:cubicBezTo>
                <a:cubicBezTo>
                  <a:pt x="528118" y="2315117"/>
                  <a:pt x="540667" y="2329836"/>
                  <a:pt x="552261" y="2345295"/>
                </a:cubicBezTo>
                <a:cubicBezTo>
                  <a:pt x="558790" y="2354000"/>
                  <a:pt x="563402" y="2364097"/>
                  <a:pt x="570368" y="2372456"/>
                </a:cubicBezTo>
                <a:cubicBezTo>
                  <a:pt x="578564" y="2382292"/>
                  <a:pt x="589332" y="2389780"/>
                  <a:pt x="597528" y="2399616"/>
                </a:cubicBezTo>
                <a:cubicBezTo>
                  <a:pt x="604494" y="2407975"/>
                  <a:pt x="608356" y="2418689"/>
                  <a:pt x="615635" y="2426777"/>
                </a:cubicBezTo>
                <a:cubicBezTo>
                  <a:pt x="635620" y="2448983"/>
                  <a:pt x="657885" y="2469026"/>
                  <a:pt x="679010" y="2490151"/>
                </a:cubicBezTo>
                <a:cubicBezTo>
                  <a:pt x="688063" y="2499204"/>
                  <a:pt x="699068" y="2506658"/>
                  <a:pt x="706170" y="2517311"/>
                </a:cubicBezTo>
                <a:cubicBezTo>
                  <a:pt x="712206" y="2526365"/>
                  <a:pt x="716088" y="2537307"/>
                  <a:pt x="724277" y="2544472"/>
                </a:cubicBezTo>
                <a:cubicBezTo>
                  <a:pt x="762592" y="2577998"/>
                  <a:pt x="768454" y="2577305"/>
                  <a:pt x="805758" y="2589739"/>
                </a:cubicBezTo>
                <a:cubicBezTo>
                  <a:pt x="814812" y="2595775"/>
                  <a:pt x="824560" y="2600880"/>
                  <a:pt x="832919" y="2607846"/>
                </a:cubicBezTo>
                <a:cubicBezTo>
                  <a:pt x="842755" y="2616042"/>
                  <a:pt x="848963" y="2628654"/>
                  <a:pt x="860079" y="2635006"/>
                </a:cubicBezTo>
                <a:cubicBezTo>
                  <a:pt x="870882" y="2641179"/>
                  <a:pt x="884222" y="2641042"/>
                  <a:pt x="896293" y="2644060"/>
                </a:cubicBezTo>
                <a:cubicBezTo>
                  <a:pt x="908364" y="2653113"/>
                  <a:pt x="921051" y="2661400"/>
                  <a:pt x="932507" y="2671220"/>
                </a:cubicBezTo>
                <a:cubicBezTo>
                  <a:pt x="944346" y="2681368"/>
                  <a:pt x="968572" y="2712275"/>
                  <a:pt x="986827" y="2716488"/>
                </a:cubicBezTo>
                <a:cubicBezTo>
                  <a:pt x="1016379" y="2723308"/>
                  <a:pt x="1047200" y="2722366"/>
                  <a:pt x="1077362" y="2725541"/>
                </a:cubicBezTo>
                <a:cubicBezTo>
                  <a:pt x="1222307" y="2740798"/>
                  <a:pt x="1098469" y="2730281"/>
                  <a:pt x="1285592" y="2743648"/>
                </a:cubicBezTo>
                <a:cubicBezTo>
                  <a:pt x="1297663" y="2749684"/>
                  <a:pt x="1309275" y="2756743"/>
                  <a:pt x="1321806" y="2761755"/>
                </a:cubicBezTo>
                <a:cubicBezTo>
                  <a:pt x="1339527" y="2768843"/>
                  <a:pt x="1376126" y="2779862"/>
                  <a:pt x="1376126" y="2779862"/>
                </a:cubicBezTo>
                <a:cubicBezTo>
                  <a:pt x="1494752" y="2938028"/>
                  <a:pt x="1315225" y="2709909"/>
                  <a:pt x="1439501" y="2834183"/>
                </a:cubicBezTo>
                <a:cubicBezTo>
                  <a:pt x="1454889" y="2849571"/>
                  <a:pt x="1461257" y="2872238"/>
                  <a:pt x="1475715" y="2888503"/>
                </a:cubicBezTo>
                <a:cubicBezTo>
                  <a:pt x="1485740" y="2899781"/>
                  <a:pt x="1501259" y="2904994"/>
                  <a:pt x="1511928" y="2915664"/>
                </a:cubicBezTo>
                <a:cubicBezTo>
                  <a:pt x="1519622" y="2923358"/>
                  <a:pt x="1521181" y="2936500"/>
                  <a:pt x="1530035" y="2942824"/>
                </a:cubicBezTo>
                <a:cubicBezTo>
                  <a:pt x="1564369" y="2967348"/>
                  <a:pt x="1620202" y="2965412"/>
                  <a:pt x="1656784" y="2969985"/>
                </a:cubicBezTo>
                <a:cubicBezTo>
                  <a:pt x="1677958" y="2972632"/>
                  <a:pt x="1699163" y="2975221"/>
                  <a:pt x="1720158" y="2979038"/>
                </a:cubicBezTo>
                <a:cubicBezTo>
                  <a:pt x="1732400" y="2981264"/>
                  <a:pt x="1744067" y="2986246"/>
                  <a:pt x="1756372" y="2988092"/>
                </a:cubicBezTo>
                <a:cubicBezTo>
                  <a:pt x="1804494" y="2995310"/>
                  <a:pt x="1852942" y="3000163"/>
                  <a:pt x="1901227" y="3006198"/>
                </a:cubicBezTo>
                <a:cubicBezTo>
                  <a:pt x="1934423" y="3015252"/>
                  <a:pt x="1966753" y="3028493"/>
                  <a:pt x="2000816" y="3033359"/>
                </a:cubicBezTo>
                <a:cubicBezTo>
                  <a:pt x="2120272" y="3050424"/>
                  <a:pt x="2181331" y="3040749"/>
                  <a:pt x="2299580" y="3033359"/>
                </a:cubicBezTo>
                <a:cubicBezTo>
                  <a:pt x="2317687" y="3021288"/>
                  <a:pt x="2341830" y="3015252"/>
                  <a:pt x="2353901" y="2997145"/>
                </a:cubicBezTo>
                <a:cubicBezTo>
                  <a:pt x="2377302" y="2962045"/>
                  <a:pt x="2361686" y="2973426"/>
                  <a:pt x="2399168" y="2960931"/>
                </a:cubicBezTo>
                <a:cubicBezTo>
                  <a:pt x="2405204" y="2951878"/>
                  <a:pt x="2413834" y="2944093"/>
                  <a:pt x="2417275" y="2933771"/>
                </a:cubicBezTo>
                <a:cubicBezTo>
                  <a:pt x="2425876" y="2907968"/>
                  <a:pt x="2421573" y="2877145"/>
                  <a:pt x="2435382" y="2852290"/>
                </a:cubicBezTo>
                <a:cubicBezTo>
                  <a:pt x="2466449" y="2796371"/>
                  <a:pt x="2459081" y="2806313"/>
                  <a:pt x="2498756" y="2779862"/>
                </a:cubicBezTo>
                <a:cubicBezTo>
                  <a:pt x="2504792" y="2770808"/>
                  <a:pt x="2507949" y="2758941"/>
                  <a:pt x="2516863" y="2752701"/>
                </a:cubicBezTo>
                <a:cubicBezTo>
                  <a:pt x="2601058" y="2693765"/>
                  <a:pt x="2562811" y="2730945"/>
                  <a:pt x="2625505" y="2707434"/>
                </a:cubicBezTo>
                <a:cubicBezTo>
                  <a:pt x="2665071" y="2692596"/>
                  <a:pt x="2662655" y="2681651"/>
                  <a:pt x="2706986" y="2671220"/>
                </a:cubicBezTo>
                <a:cubicBezTo>
                  <a:pt x="2742723" y="2662811"/>
                  <a:pt x="2815627" y="2653113"/>
                  <a:pt x="2815627" y="2653113"/>
                </a:cubicBezTo>
                <a:cubicBezTo>
                  <a:pt x="2863494" y="2621202"/>
                  <a:pt x="2832232" y="2637645"/>
                  <a:pt x="2915216" y="2616899"/>
                </a:cubicBezTo>
                <a:cubicBezTo>
                  <a:pt x="2944057" y="2609689"/>
                  <a:pt x="2966809" y="2603391"/>
                  <a:pt x="2996697" y="2598793"/>
                </a:cubicBezTo>
                <a:cubicBezTo>
                  <a:pt x="3020744" y="2595093"/>
                  <a:pt x="3044982" y="2592757"/>
                  <a:pt x="3069124" y="2589739"/>
                </a:cubicBezTo>
                <a:lnTo>
                  <a:pt x="3123445" y="2571632"/>
                </a:lnTo>
                <a:lnTo>
                  <a:pt x="3150606" y="2562579"/>
                </a:lnTo>
                <a:lnTo>
                  <a:pt x="3204926" y="2526365"/>
                </a:lnTo>
                <a:cubicBezTo>
                  <a:pt x="3213980" y="2520329"/>
                  <a:pt x="3224393" y="2515952"/>
                  <a:pt x="3232087" y="2508258"/>
                </a:cubicBezTo>
                <a:cubicBezTo>
                  <a:pt x="3340881" y="2399464"/>
                  <a:pt x="3217475" y="2527605"/>
                  <a:pt x="3286408" y="2444884"/>
                </a:cubicBezTo>
                <a:cubicBezTo>
                  <a:pt x="3294605" y="2435048"/>
                  <a:pt x="3305371" y="2427559"/>
                  <a:pt x="3313568" y="2417723"/>
                </a:cubicBezTo>
                <a:cubicBezTo>
                  <a:pt x="3376590" y="2342095"/>
                  <a:pt x="3279486" y="2442754"/>
                  <a:pt x="3358835" y="2363402"/>
                </a:cubicBezTo>
                <a:cubicBezTo>
                  <a:pt x="3363427" y="2345034"/>
                  <a:pt x="3369152" y="2318205"/>
                  <a:pt x="3376942" y="2300028"/>
                </a:cubicBezTo>
                <a:cubicBezTo>
                  <a:pt x="3390725" y="2267867"/>
                  <a:pt x="3394972" y="2263930"/>
                  <a:pt x="3413156" y="2236654"/>
                </a:cubicBezTo>
                <a:cubicBezTo>
                  <a:pt x="3420910" y="2205640"/>
                  <a:pt x="3428651" y="2178770"/>
                  <a:pt x="3431263" y="2146119"/>
                </a:cubicBezTo>
                <a:cubicBezTo>
                  <a:pt x="3435842" y="2088884"/>
                  <a:pt x="3433736" y="2031143"/>
                  <a:pt x="3440317" y="1974103"/>
                </a:cubicBezTo>
                <a:cubicBezTo>
                  <a:pt x="3442147" y="1958241"/>
                  <a:pt x="3459684" y="1906948"/>
                  <a:pt x="3467477" y="1883569"/>
                </a:cubicBezTo>
                <a:cubicBezTo>
                  <a:pt x="3464459" y="1862444"/>
                  <a:pt x="3464555" y="1840634"/>
                  <a:pt x="3458423" y="1820194"/>
                </a:cubicBezTo>
                <a:cubicBezTo>
                  <a:pt x="3455297" y="1809772"/>
                  <a:pt x="3445183" y="1802766"/>
                  <a:pt x="3440317" y="1793034"/>
                </a:cubicBezTo>
                <a:cubicBezTo>
                  <a:pt x="3402836" y="1718071"/>
                  <a:pt x="3465046" y="1816549"/>
                  <a:pt x="3413156" y="1738713"/>
                </a:cubicBezTo>
                <a:cubicBezTo>
                  <a:pt x="3385467" y="1655644"/>
                  <a:pt x="3431751" y="1784955"/>
                  <a:pt x="3376942" y="1675339"/>
                </a:cubicBezTo>
                <a:cubicBezTo>
                  <a:pt x="3365920" y="1653295"/>
                  <a:pt x="3356280" y="1610797"/>
                  <a:pt x="3349782" y="1584804"/>
                </a:cubicBezTo>
                <a:cubicBezTo>
                  <a:pt x="3355818" y="1518412"/>
                  <a:pt x="3358119" y="1451574"/>
                  <a:pt x="3367889" y="1385628"/>
                </a:cubicBezTo>
                <a:cubicBezTo>
                  <a:pt x="3370271" y="1369552"/>
                  <a:pt x="3385488" y="1356604"/>
                  <a:pt x="3385996" y="1340361"/>
                </a:cubicBezTo>
                <a:cubicBezTo>
                  <a:pt x="3389632" y="1224009"/>
                  <a:pt x="3394710" y="1153575"/>
                  <a:pt x="3367889" y="1059703"/>
                </a:cubicBezTo>
                <a:cubicBezTo>
                  <a:pt x="3365267" y="1050527"/>
                  <a:pt x="3361853" y="1041596"/>
                  <a:pt x="3358835" y="1032543"/>
                </a:cubicBezTo>
                <a:cubicBezTo>
                  <a:pt x="3355817" y="1011418"/>
                  <a:pt x="3353967" y="990094"/>
                  <a:pt x="3349782" y="969169"/>
                </a:cubicBezTo>
                <a:cubicBezTo>
                  <a:pt x="3347910" y="959811"/>
                  <a:pt x="3342078" y="951456"/>
                  <a:pt x="3340728" y="942008"/>
                </a:cubicBezTo>
                <a:cubicBezTo>
                  <a:pt x="3336014" y="909010"/>
                  <a:pt x="3340832" y="874470"/>
                  <a:pt x="3331675" y="842420"/>
                </a:cubicBezTo>
                <a:cubicBezTo>
                  <a:pt x="3328158" y="830109"/>
                  <a:pt x="3311957" y="825679"/>
                  <a:pt x="3304515" y="815260"/>
                </a:cubicBezTo>
                <a:cubicBezTo>
                  <a:pt x="3296671" y="804278"/>
                  <a:pt x="3294253" y="790028"/>
                  <a:pt x="3286408" y="779046"/>
                </a:cubicBezTo>
                <a:cubicBezTo>
                  <a:pt x="3259487" y="741357"/>
                  <a:pt x="3263158" y="761398"/>
                  <a:pt x="3232087" y="733779"/>
                </a:cubicBezTo>
                <a:cubicBezTo>
                  <a:pt x="3127716" y="641005"/>
                  <a:pt x="3218196" y="699372"/>
                  <a:pt x="3150606" y="670404"/>
                </a:cubicBezTo>
                <a:cubicBezTo>
                  <a:pt x="3138201" y="665087"/>
                  <a:pt x="3125965" y="659241"/>
                  <a:pt x="3114392" y="652297"/>
                </a:cubicBezTo>
                <a:cubicBezTo>
                  <a:pt x="3080738" y="632105"/>
                  <a:pt x="3057031" y="617868"/>
                  <a:pt x="3032911" y="588923"/>
                </a:cubicBezTo>
                <a:cubicBezTo>
                  <a:pt x="3025945" y="580564"/>
                  <a:pt x="3022993" y="568928"/>
                  <a:pt x="3014804" y="561763"/>
                </a:cubicBezTo>
                <a:cubicBezTo>
                  <a:pt x="2998426" y="547433"/>
                  <a:pt x="2960483" y="525549"/>
                  <a:pt x="2960483" y="525549"/>
                </a:cubicBezTo>
                <a:cubicBezTo>
                  <a:pt x="2954447" y="516496"/>
                  <a:pt x="2950565" y="505554"/>
                  <a:pt x="2942376" y="498389"/>
                </a:cubicBezTo>
                <a:cubicBezTo>
                  <a:pt x="2925998" y="484059"/>
                  <a:pt x="2888055" y="462175"/>
                  <a:pt x="2888055" y="462175"/>
                </a:cubicBezTo>
                <a:cubicBezTo>
                  <a:pt x="2859361" y="419133"/>
                  <a:pt x="2880270" y="438455"/>
                  <a:pt x="2815627" y="416907"/>
                </a:cubicBezTo>
                <a:lnTo>
                  <a:pt x="2788467" y="407854"/>
                </a:lnTo>
                <a:cubicBezTo>
                  <a:pt x="2779414" y="398800"/>
                  <a:pt x="2773762" y="383659"/>
                  <a:pt x="2761307" y="380693"/>
                </a:cubicBezTo>
                <a:cubicBezTo>
                  <a:pt x="2708138" y="368034"/>
                  <a:pt x="2646121" y="389130"/>
                  <a:pt x="2598344" y="362587"/>
                </a:cubicBezTo>
                <a:cubicBezTo>
                  <a:pt x="2556633" y="339414"/>
                  <a:pt x="2550603" y="278633"/>
                  <a:pt x="2516863" y="244892"/>
                </a:cubicBezTo>
                <a:cubicBezTo>
                  <a:pt x="2507810" y="235838"/>
                  <a:pt x="2499539" y="225928"/>
                  <a:pt x="2489703" y="217731"/>
                </a:cubicBezTo>
                <a:cubicBezTo>
                  <a:pt x="2481344" y="210765"/>
                  <a:pt x="2469861" y="207675"/>
                  <a:pt x="2462542" y="199624"/>
                </a:cubicBezTo>
                <a:cubicBezTo>
                  <a:pt x="2423509" y="156688"/>
                  <a:pt x="2386439" y="88532"/>
                  <a:pt x="2335794" y="54769"/>
                </a:cubicBezTo>
                <a:cubicBezTo>
                  <a:pt x="2326740" y="48733"/>
                  <a:pt x="2318365" y="41528"/>
                  <a:pt x="2308633" y="36662"/>
                </a:cubicBezTo>
                <a:cubicBezTo>
                  <a:pt x="2300097" y="32394"/>
                  <a:pt x="2290526" y="30626"/>
                  <a:pt x="2281473" y="27608"/>
                </a:cubicBezTo>
                <a:cubicBezTo>
                  <a:pt x="2255099" y="1234"/>
                  <a:pt x="2260844" y="-9216"/>
                  <a:pt x="2227152" y="9501"/>
                </a:cubicBezTo>
                <a:cubicBezTo>
                  <a:pt x="2208129" y="20069"/>
                  <a:pt x="2172831" y="45715"/>
                  <a:pt x="2172831" y="45715"/>
                </a:cubicBezTo>
                <a:cubicBezTo>
                  <a:pt x="2120938" y="123556"/>
                  <a:pt x="2190036" y="31951"/>
                  <a:pt x="2127564" y="81929"/>
                </a:cubicBezTo>
                <a:cubicBezTo>
                  <a:pt x="2119067" y="88726"/>
                  <a:pt x="2117646" y="101925"/>
                  <a:pt x="2109457" y="109090"/>
                </a:cubicBezTo>
                <a:cubicBezTo>
                  <a:pt x="2067770" y="145566"/>
                  <a:pt x="2059801" y="140051"/>
                  <a:pt x="2018922" y="163410"/>
                </a:cubicBezTo>
                <a:cubicBezTo>
                  <a:pt x="2009475" y="168808"/>
                  <a:pt x="2001494" y="176651"/>
                  <a:pt x="1991762" y="181517"/>
                </a:cubicBezTo>
                <a:cubicBezTo>
                  <a:pt x="1979882" y="187457"/>
                  <a:pt x="1938546" y="197447"/>
                  <a:pt x="1928388" y="199624"/>
                </a:cubicBezTo>
                <a:cubicBezTo>
                  <a:pt x="1768814" y="233818"/>
                  <a:pt x="1830497" y="217994"/>
                  <a:pt x="1584356" y="226785"/>
                </a:cubicBezTo>
                <a:cubicBezTo>
                  <a:pt x="1502670" y="247207"/>
                  <a:pt x="1535537" y="237023"/>
                  <a:pt x="1484768" y="253945"/>
                </a:cubicBezTo>
                <a:cubicBezTo>
                  <a:pt x="1475715" y="259981"/>
                  <a:pt x="1467340" y="267186"/>
                  <a:pt x="1457608" y="272052"/>
                </a:cubicBezTo>
                <a:cubicBezTo>
                  <a:pt x="1449072" y="276320"/>
                  <a:pt x="1437195" y="274357"/>
                  <a:pt x="1430447" y="281105"/>
                </a:cubicBezTo>
                <a:cubicBezTo>
                  <a:pt x="1423699" y="287853"/>
                  <a:pt x="1428142" y="301518"/>
                  <a:pt x="1421394" y="308266"/>
                </a:cubicBezTo>
                <a:cubicBezTo>
                  <a:pt x="1416158" y="313503"/>
                  <a:pt x="1370044" y="334224"/>
                  <a:pt x="1358020" y="335426"/>
                </a:cubicBezTo>
                <a:cubicBezTo>
                  <a:pt x="1306883" y="340540"/>
                  <a:pt x="1255414" y="341462"/>
                  <a:pt x="1204111" y="344480"/>
                </a:cubicBezTo>
                <a:cubicBezTo>
                  <a:pt x="1192040" y="347498"/>
                  <a:pt x="1180064" y="350926"/>
                  <a:pt x="1167897" y="353533"/>
                </a:cubicBezTo>
                <a:cubicBezTo>
                  <a:pt x="1091910" y="369816"/>
                  <a:pt x="1088306" y="369816"/>
                  <a:pt x="1023041" y="380693"/>
                </a:cubicBezTo>
                <a:cubicBezTo>
                  <a:pt x="1013988" y="386729"/>
                  <a:pt x="1002678" y="390303"/>
                  <a:pt x="995881" y="398800"/>
                </a:cubicBezTo>
                <a:cubicBezTo>
                  <a:pt x="989919" y="406252"/>
                  <a:pt x="990178" y="417025"/>
                  <a:pt x="986827" y="425961"/>
                </a:cubicBezTo>
                <a:cubicBezTo>
                  <a:pt x="981121" y="441178"/>
                  <a:pt x="975320" y="456377"/>
                  <a:pt x="968720" y="471228"/>
                </a:cubicBezTo>
                <a:cubicBezTo>
                  <a:pt x="957289" y="496948"/>
                  <a:pt x="931644" y="544521"/>
                  <a:pt x="914400" y="561763"/>
                </a:cubicBezTo>
                <a:lnTo>
                  <a:pt x="905346" y="570816"/>
                </a:lnTo>
                <a:lnTo>
                  <a:pt x="660903" y="607030"/>
                </a:lnTo>
                <a:lnTo>
                  <a:pt x="660903" y="607030"/>
                </a:lnTo>
                <a:lnTo>
                  <a:pt x="660903" y="616084"/>
                </a:lnTo>
                <a:lnTo>
                  <a:pt x="851025" y="597977"/>
                </a:lnTo>
                <a:lnTo>
                  <a:pt x="932507" y="525549"/>
                </a:lnTo>
              </a:path>
            </a:pathLst>
          </a:cu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763000" y="4572000"/>
            <a:ext cx="154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 memory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Elbow Connector 15"/>
          <p:cNvCxnSpPr/>
          <p:nvPr/>
        </p:nvCxnSpPr>
        <p:spPr>
          <a:xfrm rot="5400000">
            <a:off x="2514600" y="2819400"/>
            <a:ext cx="1981200" cy="12700"/>
          </a:xfrm>
          <a:prstGeom prst="bentConnector3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rot="5400000">
            <a:off x="4654550" y="2813050"/>
            <a:ext cx="1981200" cy="12700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3511551" y="3810000"/>
            <a:ext cx="2127249" cy="12700"/>
          </a:xfrm>
          <a:prstGeom prst="bentConnector3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6200" y="4264632"/>
            <a:ext cx="156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 Memory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470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How to create String Object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There are 2 ways to create String Object</a:t>
            </a:r>
          </a:p>
          <a:p>
            <a:pPr marL="457200" indent="-457200" algn="just">
              <a:buAutoNum type="arabicPeriod"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By using Literals(Text Value):</a:t>
            </a:r>
          </a:p>
          <a:p>
            <a:pPr marL="400016" lvl="1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400016" lvl="1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                     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Example</a:t>
            </a:r>
            <a:r>
              <a:rPr lang="en-US" altLang="zh-CN" sz="2000" b="1" u="sng" dirty="0"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400016" lvl="1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</a:rPr>
              <a:t>				String name=“Ken”;</a:t>
            </a:r>
          </a:p>
          <a:p>
            <a:pPr marL="457200" indent="-457200" algn="just">
              <a:buAutoNum type="arabicPeriod"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By calling String class constructor :</a:t>
            </a:r>
          </a:p>
          <a:p>
            <a:pPr marL="400016" lvl="1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</a:rPr>
              <a:t>	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	</a:t>
            </a:r>
          </a:p>
          <a:p>
            <a:pPr marL="400016" lvl="1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                     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Example</a:t>
            </a:r>
            <a:r>
              <a:rPr lang="en-US" altLang="zh-CN" sz="2000" b="1" u="sng" dirty="0"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400016" lvl="1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</a:rPr>
              <a:t>	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			String name=new String(“Ken”);</a:t>
            </a:r>
          </a:p>
          <a:p>
            <a:pPr marL="400016" lvl="1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</a:endParaRPr>
          </a:p>
          <a:p>
            <a:pPr marL="400016" lvl="1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Note :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Any one rule can be used to create String object.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295400"/>
            <a:ext cx="5724526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3505200" y="2438400"/>
            <a:ext cx="4419600" cy="762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791200" y="2819400"/>
            <a:ext cx="2133600" cy="18288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52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String Objects are Immutable(Can not change):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variable value can not be changed….If you change the value a new memory will be allocated.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8610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1962150"/>
            <a:ext cx="3886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63000" y="4114800"/>
            <a:ext cx="10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firstname</a:t>
            </a:r>
            <a:endParaRPr lang="zh-CN" altLang="en-US" dirty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295900"/>
            <a:ext cx="29718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55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String Objects are Immutable(Can not change):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variable value can not be changed….If you change the value a new memory will be allocated.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534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4419600"/>
            <a:ext cx="431482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31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String Objects can be Concatenated (Joined)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String Objects can be concatenated using the +   or +=   operator resulting a new String object.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76058"/>
            <a:ext cx="7458075" cy="482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5029200" y="1905000"/>
            <a:ext cx="1833563" cy="4572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34200" y="1676400"/>
            <a:ext cx="471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operator can be used to concatenate 2 Strings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429000" y="2863334"/>
            <a:ext cx="3810000" cy="18466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62800" y="2678668"/>
            <a:ext cx="549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+= operator can also be used to concatenate 2 Strings,  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862764" y="3505200"/>
            <a:ext cx="669576" cy="2286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32340" y="3276600"/>
            <a:ext cx="450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operator can be used to join String with int.</a:t>
            </a:r>
            <a:b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 will be converted to String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7197552" y="3988430"/>
            <a:ext cx="422448" cy="43117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20000" y="4191000"/>
            <a:ext cx="4953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value can be concatenated with a String 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283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-&gt;B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143000"/>
            <a:ext cx="86106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6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-&gt;1243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157564"/>
            <a:ext cx="8382000" cy="3947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924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 String Objects: Concatenation, Literals and More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Escape Sequences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The 3 important escape sequences are \”,  \\  ,  \n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600200"/>
            <a:ext cx="94964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676400"/>
            <a:ext cx="4352925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242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hlinkClick r:id="rId2"/>
              </a:rPr>
              <a:t>https://docs.oracle.com/javase/8/docs/api/index.html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Above link opens Java API (Application program Interface) documentation.</a:t>
            </a:r>
          </a:p>
          <a:p>
            <a:pPr marL="0" indent="0" algn="just">
              <a:buNone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What is API?</a:t>
            </a:r>
          </a:p>
          <a:p>
            <a:pPr marL="0" indent="0" algn="just">
              <a:buNone/>
            </a:pPr>
            <a:r>
              <a:rPr lang="en-US" altLang="zh-C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 Application Program Interface-&gt; All inbuilt Java Packages, Classes and all methods and attributes of any given class is known as API.  [Above link gives you all these information].</a:t>
            </a:r>
          </a:p>
          <a:p>
            <a:pPr marL="0" indent="0" algn="just">
              <a:buNone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It’s Practically Impossible for any human being to remember all these information.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APIs(Application program interfaces and libraries simplify complex programming task.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Documentation for APIs and libraries are essential to understand the attributes and behaviors of an object of a class.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Classes in the APIs and libraries are grouped into packages.</a:t>
            </a:r>
          </a:p>
          <a:p>
            <a:pPr marL="0" indent="0" algn="just">
              <a:buNone/>
            </a:pPr>
            <a:r>
              <a:rPr lang="en-US" altLang="zh-C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Example:</a:t>
            </a:r>
          </a:p>
          <a:p>
            <a:pPr marL="0" indent="0" algn="just">
              <a:buNone/>
            </a:pPr>
            <a:r>
              <a:rPr lang="en-US" altLang="zh-C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Important 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: A </a:t>
            </a:r>
            <a:r>
              <a:rPr lang="en-US" altLang="zh-C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String Class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is part of the </a:t>
            </a:r>
            <a:r>
              <a:rPr lang="en-US" altLang="zh-CN" sz="20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java.lang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package.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</a:t>
            </a:r>
            <a:r>
              <a:rPr lang="en-US" altLang="zh-CN" sz="20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java.lang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package is a </a:t>
            </a:r>
            <a:r>
              <a:rPr lang="en-US" altLang="zh-C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default package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, so never write import </a:t>
            </a:r>
            <a:r>
              <a:rPr lang="en-US" altLang="zh-C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java.lang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 in any java program</a:t>
            </a:r>
          </a:p>
        </p:txBody>
      </p:sp>
    </p:spTree>
    <p:extLst>
      <p:ext uri="{BB962C8B-B14F-4D97-AF65-F5344CB8AC3E}">
        <p14:creationId xmlns:p14="http://schemas.microsoft.com/office/powerpoint/2010/main" val="46830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 String object has index values from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0 to length-1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. 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Attempting to access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indices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outside this range will result in an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StringIndexOutOfBoundsException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0"/>
            <a:ext cx="168592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447800"/>
            <a:ext cx="24479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3667125" y="1752600"/>
            <a:ext cx="29622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57875"/>
            <a:ext cx="5715000" cy="242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883610"/>
            <a:ext cx="190500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409825"/>
            <a:ext cx="6393020" cy="2473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800600"/>
            <a:ext cx="6393020" cy="124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 String object can be concatenated with an object reference, which implicitly(Automatically) calls the referenced object’s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toString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 method.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When we try to print any object of a class, the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toString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 method is called automatically(implicitly)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toString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 is defined in Object class, By default all class we create in java are child class of Object class.</a:t>
            </a:r>
          </a:p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Example: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60198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486400"/>
            <a:ext cx="3771900" cy="877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62200"/>
            <a:ext cx="6324600" cy="377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638800"/>
            <a:ext cx="3490913" cy="69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53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There are many methods in API for String class but for AP course only below methods will be asked.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06474"/>
            <a:ext cx="3505200" cy="5407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3505200" y="1447800"/>
            <a:ext cx="3276600" cy="381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1219200"/>
            <a:ext cx="292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 a String class Constructor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505200" y="2514600"/>
            <a:ext cx="3276600" cy="381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886200" y="2895600"/>
            <a:ext cx="2895600" cy="76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810000" y="2895600"/>
            <a:ext cx="2971800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429000" y="2933700"/>
            <a:ext cx="3276600" cy="12573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657600" y="2895600"/>
            <a:ext cx="3048000" cy="1905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505200" y="2933700"/>
            <a:ext cx="3200400" cy="24765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0" y="2590800"/>
            <a:ext cx="2698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from String Class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299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String Constructor and length() method of String Class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" y="990600"/>
            <a:ext cx="7920038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325" y="4419600"/>
            <a:ext cx="242887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549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String  substring() method of String Class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153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4572000"/>
            <a:ext cx="33813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846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err="1">
                <a:latin typeface="Georgia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nt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indexOf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 method of String Class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24" y="1066800"/>
            <a:ext cx="8926976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4076700"/>
            <a:ext cx="22479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38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boolean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equals(String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) method of String Class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03243" cy="474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191000"/>
            <a:ext cx="25431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38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compareTo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(String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str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) method of String Class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001000" cy="5119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810000"/>
            <a:ext cx="23050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07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String Methods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 String identical to the single element substring at position index can be create by calling 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Substring(index,index+1).</a:t>
            </a:r>
          </a:p>
          <a:p>
            <a:pPr marL="0" indent="0" algn="just">
              <a:buNone/>
            </a:pPr>
            <a:endParaRPr lang="en-US" altLang="zh-CN" sz="2000" b="1" u="sng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97155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4572000"/>
            <a:ext cx="18669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778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The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Wrapper class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for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is called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Integer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The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Wrapper class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for double is called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Double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Sometime you need to create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wrapped object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for a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primitive type </a:t>
            </a:r>
            <a:r>
              <a:rPr lang="en-US" altLang="zh-CN" sz="2000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Like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and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double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Integer class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and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Double class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are part of the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java.lang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package.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Example: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Integer i=new Integer(5);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		or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		     Integer i=5;       Both are ok!!!  It will create an object of primitive type.</a:t>
            </a:r>
            <a:endParaRPr lang="en-US" altLang="zh-CN" sz="16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410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Below program show an example of how to create an object of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Integer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and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Double class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1"/>
            <a:ext cx="100965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226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Try this program an remember few static attributes defined in Integer class, static attributes can be used directly by using class name.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Java can be used to represent any whole number from </a:t>
            </a:r>
            <a:r>
              <a:rPr lang="en-US" altLang="zh-CN" sz="2000" dirty="0" smtClean="0"/>
              <a:t>-</a:t>
            </a:r>
            <a:r>
              <a:rPr lang="en-US" altLang="zh-CN" sz="2000" dirty="0"/>
              <a:t>2147483648 to </a:t>
            </a:r>
            <a:r>
              <a:rPr lang="en-US" altLang="zh-CN" sz="2000" dirty="0" smtClean="0"/>
              <a:t>2147483647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Each integer gets 32 bit space to store values out of this </a:t>
            </a: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32 bit,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1 bit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is for the sign(negative or positive)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/>
              <a:t>Why is there one more </a:t>
            </a:r>
            <a:r>
              <a:rPr lang="en-US" altLang="zh-CN" sz="2000" b="1" u="sng" dirty="0"/>
              <a:t>negative number</a:t>
            </a:r>
            <a:r>
              <a:rPr lang="en-US" altLang="zh-CN" sz="2000" dirty="0"/>
              <a:t> than </a:t>
            </a:r>
            <a:r>
              <a:rPr lang="en-US" altLang="zh-CN" sz="2000" b="1" u="sng" dirty="0"/>
              <a:t>positive number</a:t>
            </a:r>
            <a:r>
              <a:rPr lang="en-US" altLang="zh-CN" sz="2000" dirty="0" smtClean="0"/>
              <a:t>?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/>
              <a:t>It is because </a:t>
            </a:r>
            <a:r>
              <a:rPr lang="en-US" altLang="zh-CN" sz="2000" b="1" u="sng" dirty="0"/>
              <a:t>0</a:t>
            </a:r>
            <a:r>
              <a:rPr lang="en-US" altLang="zh-CN" sz="2000" dirty="0"/>
              <a:t> is considered a positive number</a:t>
            </a:r>
            <a:r>
              <a:rPr lang="en-US" altLang="zh-CN" sz="20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Java returns the maximum integer Value 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if you try to subtract one from The minimum 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value.  This is called as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Underflow.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428278"/>
            <a:ext cx="7264651" cy="3956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942" y="4572000"/>
            <a:ext cx="22288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277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Boxing and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UnBoxing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Boxing 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When we convert primitive type to reference type(object) it is called boxing.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Unboxing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When we convert reference type(object) to primitive type it is called unboxing.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 Boxing: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x=5;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double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num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=6.5;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 Integer i=new Integer(x) ; // we are converting primitive type to reference type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                                                  // it’s an example of boxing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	         Double d=new Double(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num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);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 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y=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i.intValue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();  //This is an example of unboxing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                          double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yy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=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d.doubleValue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();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AutoBoxing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and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AutoUnboxing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: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	      Integer i=2;			//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Autoboxing</a:t>
            </a: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		     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x=i;                                       // Auto unboxing</a:t>
            </a:r>
          </a:p>
        </p:txBody>
      </p:sp>
    </p:spTree>
    <p:extLst>
      <p:ext uri="{BB962C8B-B14F-4D97-AF65-F5344CB8AC3E}">
        <p14:creationId xmlns:p14="http://schemas.microsoft.com/office/powerpoint/2010/main" val="392567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12496800" cy="559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5" y="5334000"/>
            <a:ext cx="4791075" cy="892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53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2.8 Wrapper Classes: Integer and Double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Find and Fix the Bug in this program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110490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234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2.9 Using The Math Class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Static Methods are called using the dot operator along with the class name.</a:t>
            </a:r>
          </a:p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The Math class is part of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java.lang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package.</a:t>
            </a:r>
          </a:p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The Math class contains only static methods.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12061825" cy="4357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467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2.9 Using The Math Class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Below are few static methods of Math class that will be asked in AP Exam.</a:t>
            </a:r>
          </a:p>
          <a:p>
            <a:pPr algn="just">
              <a:buFont typeface="Wingdings" pitchFamily="2" charset="2"/>
              <a:buChar char="u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5562600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964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2.9 Using The Math Class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Below are few static methods of Math class that will be asked in AP Exam.</a:t>
            </a:r>
          </a:p>
          <a:p>
            <a:pPr algn="just">
              <a:buFont typeface="Wingdings" pitchFamily="2" charset="2"/>
              <a:buChar char="u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94399"/>
            <a:ext cx="7315200" cy="5315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3057525"/>
            <a:ext cx="34671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12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2.9 Using The Math Class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12573000" cy="55626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Very Important Topic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:::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Math.random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 method can be manipulated to produce a random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or double in a defined range.</a:t>
            </a:r>
          </a:p>
          <a:p>
            <a:pPr algn="just">
              <a:buFont typeface="Wingdings" pitchFamily="2" charset="2"/>
              <a:buChar char="u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Returns number between 0(inclusive) and 1(exclusive)</a:t>
            </a:r>
          </a:p>
          <a:p>
            <a:pPr algn="just">
              <a:buFont typeface="Wingdings" pitchFamily="2" charset="2"/>
              <a:buChar char="u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u"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u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algn="just">
              <a:buFont typeface="Wingdings" pitchFamily="2" charset="2"/>
              <a:buChar char="u"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9896475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029200"/>
            <a:ext cx="485775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615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lligraphy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ligraphy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lligraphy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40147</TotalTime>
  <Words>1325</Words>
  <Application>Microsoft Office PowerPoint</Application>
  <PresentationFormat>Custom</PresentationFormat>
  <Paragraphs>256</Paragraphs>
  <Slides>33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Calligraphy</vt:lpstr>
      <vt:lpstr>Computer Science A</vt:lpstr>
      <vt:lpstr>OBJECTIVE</vt:lpstr>
      <vt:lpstr>UNIT at a Glance</vt:lpstr>
      <vt:lpstr>UNIT at a Glance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2.6 String Objects: Concatenation, Literals and More</vt:lpstr>
      <vt:lpstr>2.7 String Methods</vt:lpstr>
      <vt:lpstr>2.7 String Methods</vt:lpstr>
      <vt:lpstr>2.7 String Methods</vt:lpstr>
      <vt:lpstr>2.7 String Methods</vt:lpstr>
      <vt:lpstr>2.7 String Methods</vt:lpstr>
      <vt:lpstr>2.7 String Methods</vt:lpstr>
      <vt:lpstr>2.7 String Methods</vt:lpstr>
      <vt:lpstr>2.7 String Methods</vt:lpstr>
      <vt:lpstr>2.7 String Methods</vt:lpstr>
      <vt:lpstr>2.7 String Methods</vt:lpstr>
      <vt:lpstr>2.8 Wrapper Classes: Integer and Double</vt:lpstr>
      <vt:lpstr>2.8 Wrapper Classes: Integer and Double</vt:lpstr>
      <vt:lpstr>2.8 Wrapper Classes: Integer and Double</vt:lpstr>
      <vt:lpstr>2.8 Wrapper Classes: Integer and Double</vt:lpstr>
      <vt:lpstr>2.8 Wrapper Classes: Integer and Double</vt:lpstr>
      <vt:lpstr>2.8 Wrapper Classes: Integer and Double</vt:lpstr>
      <vt:lpstr>2.9 Using The Math Class</vt:lpstr>
      <vt:lpstr>2.9 Using The Math Class</vt:lpstr>
      <vt:lpstr>2.9 Using The Math Class</vt:lpstr>
      <vt:lpstr>2.9 Using The Math Class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lenovo</dc:creator>
  <cp:lastModifiedBy>lenovo</cp:lastModifiedBy>
  <cp:revision>831</cp:revision>
  <dcterms:created xsi:type="dcterms:W3CDTF">2021-04-30T06:53:03Z</dcterms:created>
  <dcterms:modified xsi:type="dcterms:W3CDTF">2024-09-04T01:45:51Z</dcterms:modified>
</cp:coreProperties>
</file>