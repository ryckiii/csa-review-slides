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3"/>
  </p:notesMasterIdLst>
  <p:handoutMasterIdLst>
    <p:handoutMasterId r:id="rId6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6" r:id="rId22"/>
    <p:sldId id="278" r:id="rId23"/>
    <p:sldId id="279" r:id="rId24"/>
    <p:sldId id="280" r:id="rId25"/>
    <p:sldId id="282" r:id="rId26"/>
    <p:sldId id="281" r:id="rId27"/>
    <p:sldId id="296" r:id="rId28"/>
    <p:sldId id="297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317" r:id="rId41"/>
    <p:sldId id="294" r:id="rId42"/>
    <p:sldId id="295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801600" cy="6400800"/>
  <p:notesSz cx="6858000" cy="9144000"/>
  <p:defaultTextStyle>
    <a:defPPr>
      <a:defRPr lang="zh-CN"/>
    </a:defPPr>
    <a:lvl1pPr marL="0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2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83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43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04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65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26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86" algn="l" defTabSz="91432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02" autoAdjust="0"/>
  </p:normalViewPr>
  <p:slideViewPr>
    <p:cSldViewPr>
      <p:cViewPr varScale="1">
        <p:scale>
          <a:sx n="70" d="100"/>
          <a:sy n="70" d="100"/>
        </p:scale>
        <p:origin x="-348" y="-60"/>
      </p:cViewPr>
      <p:guideLst>
        <p:guide orient="horz" pos="2016"/>
        <p:guide pos="4032"/>
      </p:guideLst>
    </p:cSldViewPr>
  </p:slideViewPr>
  <p:outlineViewPr>
    <p:cViewPr>
      <p:scale>
        <a:sx n="33" d="100"/>
        <a:sy n="33" d="100"/>
      </p:scale>
      <p:origin x="0" y="2766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664" y="-6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4806B-6C69-44F5-A0B5-00896F9CC841}" type="datetimeFigureOut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45E02-A950-4239-9FA7-D3B93049B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93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0ED2B-34DC-4645-8A7F-6D1F0FC0483F}" type="datetimeFigureOut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DF59B-BB8D-462E-BB6A-1FA2D8C88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4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2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83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43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04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65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26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86" algn="l" defTabSz="91432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DF59B-BB8D-462E-BB6A-1FA2D8C88C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734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DF59B-BB8D-462E-BB6A-1FA2D8C88C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66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849120"/>
            <a:ext cx="10881360" cy="1751334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en-US" altLang="zh-CN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3600454"/>
            <a:ext cx="8961120" cy="16363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 altLang="zh-CN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B42E-195B-47C7-9BE8-58D3AEB3A908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0"/>
            <a:ext cx="2987040" cy="340783"/>
          </a:xfrm>
        </p:spPr>
        <p:txBody>
          <a:bodyPr/>
          <a:lstStyle>
            <a:lvl1pPr>
              <a:defRPr sz="1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altLang="zh-CN" dirty="0" smtClean="0"/>
              <a:t>H14Z</a:t>
            </a:r>
            <a:fld id="{5D617C44-B3AA-4DFF-AD16-AF5172FF724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99F13-3974-44AC-A39B-7EDE68229D4F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1"/>
            <a:ext cx="2987040" cy="3048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zh-CN" dirty="0" smtClean="0"/>
              <a:t>H14Z </a:t>
            </a:r>
            <a:fld id="{5D617C44-B3AA-4DFF-AD16-AF5172FF724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3597209"/>
            <a:ext cx="10881360" cy="1736794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20" y="2199334"/>
            <a:ext cx="10881360" cy="140112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61" indent="0" algn="l">
              <a:buNone/>
              <a:defRPr sz="1800">
                <a:solidFill>
                  <a:schemeClr val="tx2"/>
                </a:solidFill>
              </a:defRPr>
            </a:lvl2pPr>
            <a:lvl3pPr marL="914322" indent="0" algn="l">
              <a:buNone/>
              <a:defRPr sz="1600">
                <a:solidFill>
                  <a:schemeClr val="tx2"/>
                </a:solidFill>
              </a:defRPr>
            </a:lvl3pPr>
            <a:lvl4pPr marL="1371483" indent="0" algn="l">
              <a:buNone/>
              <a:defRPr sz="1400">
                <a:solidFill>
                  <a:schemeClr val="tx2"/>
                </a:solidFill>
              </a:defRPr>
            </a:lvl4pPr>
            <a:lvl5pPr marL="1828643" indent="0" algn="l">
              <a:buNone/>
              <a:defRPr sz="1400">
                <a:solidFill>
                  <a:schemeClr val="tx2"/>
                </a:solidFill>
              </a:defRPr>
            </a:lvl5pPr>
            <a:lvl6pPr marL="22858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15B0-2DB9-4967-9744-AEAF73DEEBF8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4560" y="0"/>
            <a:ext cx="2987040" cy="340783"/>
          </a:xfrm>
        </p:spPr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493524"/>
            <a:ext cx="565404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493524"/>
            <a:ext cx="5654040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BBCE-E569-4B8B-BD3B-68FF18CADE4B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432773"/>
            <a:ext cx="5656264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3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4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6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029884"/>
            <a:ext cx="5656264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9" y="1432773"/>
            <a:ext cx="5658486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3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4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6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9" y="2029884"/>
            <a:ext cx="5658486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173B-DB4E-4EC8-ACB3-28A98CC754C5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F100-1CB6-4FC0-8A0C-2C98B282916F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1D0-DB12-4C86-A2B6-B1B99BBCEB28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62" y="355603"/>
            <a:ext cx="3733800" cy="1711317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3920" y="355603"/>
            <a:ext cx="7574280" cy="53621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762" y="2066918"/>
            <a:ext cx="3733800" cy="3651370"/>
          </a:xfrm>
        </p:spPr>
        <p:txBody>
          <a:bodyPr/>
          <a:lstStyle>
            <a:lvl1pPr marL="0" indent="0">
              <a:buNone/>
              <a:defRPr sz="1400"/>
            </a:lvl1pPr>
            <a:lvl2pPr marL="457161" indent="0">
              <a:buNone/>
              <a:defRPr sz="1200"/>
            </a:lvl2pPr>
            <a:lvl3pPr marL="914322" indent="0">
              <a:buNone/>
              <a:defRPr sz="1000"/>
            </a:lvl3pPr>
            <a:lvl4pPr marL="1371483" indent="0">
              <a:buNone/>
              <a:defRPr sz="900"/>
            </a:lvl4pPr>
            <a:lvl5pPr marL="1828643" indent="0">
              <a:buNone/>
              <a:defRPr sz="900"/>
            </a:lvl5pPr>
            <a:lvl6pPr marL="2285804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6" indent="0">
              <a:buNone/>
              <a:defRPr sz="9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B0F76-376B-441D-A1AC-FAAD4DD227FC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2212665" y="516822"/>
            <a:ext cx="10288942" cy="4425429"/>
            <a:chOff x="428596" y="553734"/>
            <a:chExt cx="7349244" cy="4741531"/>
          </a:xfrm>
        </p:grpSpPr>
        <p:sp>
          <p:nvSpPr>
            <p:cNvPr id="16" name="Rectangle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Rectangle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12677" y="571925"/>
            <a:ext cx="10101334" cy="4295364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161" indent="0">
              <a:buNone/>
              <a:defRPr sz="2800"/>
            </a:lvl2pPr>
            <a:lvl3pPr marL="914322" indent="0">
              <a:buNone/>
              <a:defRPr sz="2400"/>
            </a:lvl3pPr>
            <a:lvl4pPr marL="1371483" indent="0">
              <a:buNone/>
              <a:defRPr sz="2000"/>
            </a:lvl4pPr>
            <a:lvl5pPr marL="1828643" indent="0">
              <a:buNone/>
              <a:defRPr sz="2000"/>
            </a:lvl5pPr>
            <a:lvl6pPr marL="2285804" indent="0">
              <a:buNone/>
              <a:defRPr sz="2000"/>
            </a:lvl6pPr>
            <a:lvl7pPr marL="2742965" indent="0">
              <a:buNone/>
              <a:defRPr sz="2000"/>
            </a:lvl7pPr>
            <a:lvl8pPr marL="3200126" indent="0">
              <a:buNone/>
              <a:defRPr sz="2000"/>
            </a:lvl8pPr>
            <a:lvl9pPr marL="3657286" indent="0">
              <a:buNone/>
              <a:defRPr sz="2000"/>
            </a:lvl9pPr>
          </a:lstStyle>
          <a:p>
            <a:r>
              <a:rPr kumimoji="0" lang="en-US" altLang="zh-CN" smtClean="0"/>
              <a:t>Click icon to add picture</a:t>
            </a:r>
            <a:endParaRPr kumimoji="0" lang="en-US"/>
          </a:p>
        </p:txBody>
      </p:sp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55610"/>
            <a:ext cx="1900206" cy="5311812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0273" y="5116217"/>
            <a:ext cx="10101334" cy="751205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161" indent="0" algn="ctr">
              <a:buNone/>
              <a:defRPr sz="1200"/>
            </a:lvl2pPr>
            <a:lvl3pPr marL="914322" indent="0" algn="ctr">
              <a:buNone/>
              <a:defRPr sz="1000"/>
            </a:lvl3pPr>
            <a:lvl4pPr marL="1371483" indent="0" algn="ctr">
              <a:buNone/>
              <a:defRPr sz="900"/>
            </a:lvl4pPr>
            <a:lvl5pPr marL="1828643" indent="0" algn="ctr">
              <a:buNone/>
              <a:defRPr sz="900"/>
            </a:lvl5pPr>
            <a:lvl6pPr marL="2285804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6" indent="0">
              <a:buNone/>
              <a:defRPr sz="900"/>
            </a:lvl9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CFCBD-BF76-4BA9-A7C9-74B20721CB65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3460-BC43-4E5D-A0AC-FB61A3D4B379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1305" y="256331"/>
            <a:ext cx="1960218" cy="5461424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3" y="256331"/>
            <a:ext cx="9561222" cy="5461424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</a:p>
          <a:p>
            <a:pPr lvl="1" eaLnBrk="1" latinLnBrk="0" hangingPunct="1"/>
            <a:r>
              <a:rPr lang="en-US" altLang="zh-CN" smtClean="0"/>
              <a:t>Second level</a:t>
            </a:r>
          </a:p>
          <a:p>
            <a:pPr lvl="2" eaLnBrk="1" latinLnBrk="0" hangingPunct="1"/>
            <a:r>
              <a:rPr lang="en-US" altLang="zh-CN" smtClean="0"/>
              <a:t>Third level</a:t>
            </a:r>
          </a:p>
          <a:p>
            <a:pPr lvl="3" eaLnBrk="1" latinLnBrk="0" hangingPunct="1"/>
            <a:r>
              <a:rPr lang="en-US" altLang="zh-CN" smtClean="0"/>
              <a:t>Fourth level</a:t>
            </a:r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2C44B-850B-4B42-A13A-A08A9D6C7D67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56330"/>
            <a:ext cx="11521440" cy="1066800"/>
          </a:xfrm>
          <a:prstGeom prst="rect">
            <a:avLst/>
          </a:prstGeom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493520"/>
            <a:ext cx="11521440" cy="440944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 eaLnBrk="1" latinLnBrk="0" hangingPunct="1"/>
            <a:r>
              <a:rPr kumimoji="0" lang="en-US" altLang="zh-CN" smtClean="0"/>
              <a:t>Click to edit Master text styles</a:t>
            </a:r>
          </a:p>
          <a:p>
            <a:pPr lvl="1" eaLnBrk="1" latinLnBrk="0" hangingPunct="1"/>
            <a:r>
              <a:rPr kumimoji="0" lang="en-US" altLang="zh-CN" smtClean="0"/>
              <a:t>Second level</a:t>
            </a:r>
          </a:p>
          <a:p>
            <a:pPr lvl="2" eaLnBrk="1" latinLnBrk="0" hangingPunct="1"/>
            <a:r>
              <a:rPr kumimoji="0" lang="en-US" altLang="zh-CN" smtClean="0"/>
              <a:t>Third level</a:t>
            </a:r>
          </a:p>
          <a:p>
            <a:pPr lvl="3" eaLnBrk="1" latinLnBrk="0" hangingPunct="1"/>
            <a:r>
              <a:rPr kumimoji="0" lang="en-US" altLang="zh-CN" smtClean="0"/>
              <a:t>Fourth level</a:t>
            </a:r>
          </a:p>
          <a:p>
            <a:pPr lvl="4" eaLnBrk="1" latinLnBrk="0" hangingPunct="1"/>
            <a:r>
              <a:rPr kumimoji="0"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0" y="6051733"/>
            <a:ext cx="29870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59A-A439-49EB-9E71-9424FF1084D3}" type="datetime1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051733"/>
            <a:ext cx="40538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9702" y="6051733"/>
            <a:ext cx="2987040" cy="340783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17C44-B3AA-4DFF-AD16-AF5172FF72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870" indent="-34287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86" indent="-285725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2" indent="-22858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3" indent="-22858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3" indent="-22858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4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45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06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66" indent="-22858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Computer Science 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 lnSpcReduction="10000"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>
                <a:solidFill>
                  <a:schemeClr val="tx1"/>
                </a:solidFill>
              </a:rPr>
              <a:t>Session1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HN14Z 1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56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56330"/>
            <a:ext cx="11521440" cy="482225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984741"/>
            <a:ext cx="11805920" cy="5251939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Objects: Instances of Classes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Creating and Storing Objects(Instantiation)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Calling  a Void Method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Calling a Void Method with parameters</a:t>
            </a:r>
          </a:p>
          <a:p>
            <a:pPr marL="457200" indent="-457200" algn="just">
              <a:buAutoNum type="arabicPeriod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Calling a Non-void Method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t>2</a:t>
            </a:fld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22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28600"/>
            <a:ext cx="11521440" cy="5056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at a Glance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Akash S. Pathak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990600"/>
            <a:ext cx="4705350" cy="512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3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256330"/>
            <a:ext cx="11521440" cy="5056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at a Glance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Akash S. </a:t>
            </a:r>
            <a:r>
              <a:rPr lang="en-US" altLang="zh-CN" dirty="0" err="1" smtClean="0"/>
              <a:t>Pathak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5766"/>
            <a:ext cx="6733118" cy="5358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18" y="2438400"/>
            <a:ext cx="6068482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7530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122682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What are Object and Classes?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Object :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 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An Object is a specific instance of a class with defined attributes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Example: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“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akash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” is an object or Instance of class Human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                      class Human has many attributes such as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eyeColor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hairColor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, height, age.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Class :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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 Class is  a blueprint for objects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A Class is the formal implementation of the attributes and behaviors of an object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	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962400"/>
            <a:ext cx="721995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8832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56330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0080" y="984741"/>
            <a:ext cx="11805920" cy="525193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u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Class implements attributes(Variables)  and behaviors(Function/Method) of Objects.</a:t>
            </a:r>
          </a:p>
          <a:p>
            <a:pPr algn="just">
              <a:buFont typeface="Wingdings" pitchFamily="2" charset="2"/>
              <a:buChar char="u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Attributes(variables) in a class is also called as Instance Variable</a:t>
            </a:r>
          </a:p>
          <a:p>
            <a:pPr algn="just">
              <a:buFont typeface="Wingdings" pitchFamily="2" charset="2"/>
              <a:buChar char="u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Object is an Instance of Class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568" y="2514600"/>
            <a:ext cx="6271832" cy="248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5105400"/>
            <a:ext cx="940117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658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5294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76325"/>
            <a:ext cx="9296400" cy="494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1076324"/>
            <a:ext cx="3200400" cy="500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74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65860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5294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D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11430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20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5294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B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11353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147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5294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A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066800"/>
            <a:ext cx="11430001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43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Example :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Create a Human Class With  following attributes and methods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Attributes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name,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eyeColor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hairColor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, age and weight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Methods 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walk(),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showInformation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acceptInformation</a:t>
            </a:r>
            <a:r>
              <a:rPr lang="en-US" altLang="zh-CN" sz="240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()</a:t>
            </a:r>
            <a:endParaRPr lang="en-US" altLang="zh-CN" sz="24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create objects(Instance) for class Human such as “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akash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” , “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apollo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”,”</a:t>
            </a:r>
            <a:r>
              <a:rPr lang="en-US" altLang="zh-CN" sz="2400" dirty="0" err="1">
                <a:latin typeface="Georgia" pitchFamily="18" charset="0"/>
                <a:cs typeface="Times New Roman" pitchFamily="18" charset="0"/>
                <a:sym typeface="Wingdings" pitchFamily="2" charset="2"/>
              </a:rPr>
              <a:t>r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in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”.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1" y="2362200"/>
            <a:ext cx="781685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911" y="2343150"/>
            <a:ext cx="4889689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340132"/>
            <a:ext cx="12649200" cy="4060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10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Example :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Create a class named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Calculator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with following attributes and methods.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</a:t>
            </a:r>
            <a:r>
              <a:rPr lang="en-US" altLang="zh-CN" sz="2400" b="1" u="sng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Attributes 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num1, num2, result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              </a:t>
            </a:r>
            <a:r>
              <a:rPr lang="en-US" altLang="zh-CN" sz="2400" b="1" u="sng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Methods   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add(),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subtract(), multiply(), divide(),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showResult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Create </a:t>
            </a: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a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nother class named </a:t>
            </a: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CalculatorTest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and use the attributes and methods of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Calculator class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    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		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6" y="1440130"/>
            <a:ext cx="5849294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320146"/>
            <a:ext cx="6667500" cy="3775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604" y="4953000"/>
            <a:ext cx="2433496" cy="1056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518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A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95375"/>
            <a:ext cx="12344400" cy="2850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299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D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12420600" cy="3166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944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C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219200"/>
            <a:ext cx="1241086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804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Turtle Example: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Use these files in IDE and Complete the task as asked below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Teacher will provide you a folder named “”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AllJavaFilesforTurtleExample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”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Copy all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Javafiles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and paste it in </a:t>
            </a:r>
            <a:r>
              <a:rPr lang="en-US" altLang="zh-CN" sz="2400" dirty="0" err="1" smtClean="0">
                <a:latin typeface="Georgia" pitchFamily="18" charset="0"/>
                <a:cs typeface="Times New Roman" pitchFamily="18" charset="0"/>
              </a:rPr>
              <a:t>src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folder of  your project.</a:t>
            </a:r>
          </a:p>
          <a:p>
            <a:pPr algn="just">
              <a:buFont typeface="Wingdings" pitchFamily="2" charset="2"/>
              <a:buChar char="ü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Recompile the entire project to create class files for the given java files.</a:t>
            </a:r>
          </a:p>
          <a:p>
            <a:pPr algn="just">
              <a:buFont typeface="Wingdings" pitchFamily="2" charset="2"/>
              <a:buChar char="ü"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62200"/>
            <a:ext cx="6353175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362200"/>
            <a:ext cx="4800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076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: Programming Challenge – 10 Point will awarded …</a:t>
            </a: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1011555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188507"/>
            <a:ext cx="6934200" cy="4212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726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Objects: Instances of classes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1864" y="566596"/>
            <a:ext cx="12663535" cy="58342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B</a:t>
            </a: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3400"/>
            <a:ext cx="11277600" cy="5269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809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19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: A Special Method 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Constructor is a special method whose name is same as the name of the class.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Constructor have no return type.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Constructors are called when we create object of the class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Constructor can have parameter or without Parameter(default constructor)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Many constructors can be created for one class.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Constructors are said to be overloaded when there are multiple constructors with the same name but a different signature.</a:t>
            </a: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 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Signature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Consists of the 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Constructor name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and the 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parameter list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The parameter list, in the header of a constructor, lists the type of the values that are passed and their variable names. These are referred to as 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Formal Parameters.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A parameter is a value that is passed into a constructor . These are referred to as </a:t>
            </a:r>
          </a:p>
          <a:p>
            <a:pPr marL="0" indent="0" algn="just">
              <a:buNone/>
            </a:pPr>
            <a:r>
              <a:rPr lang="en-US" altLang="zh-CN" sz="2400" dirty="0">
                <a:latin typeface="Georg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   </a:t>
            </a:r>
            <a:r>
              <a:rPr lang="en-US" altLang="zh-C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Actual Parameters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6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without parameter</a:t>
            </a: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76250"/>
            <a:ext cx="6643169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257800"/>
            <a:ext cx="664316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5715000" cy="5415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434012"/>
            <a:ext cx="3200400" cy="96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506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: Example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27198"/>
            <a:ext cx="10363200" cy="5174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609600"/>
            <a:ext cx="562927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 flipH="1">
            <a:off x="5943600" y="4343400"/>
            <a:ext cx="2852928" cy="640080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23034" y="4094605"/>
            <a:ext cx="329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/>
              <a:t>Values are Actual parameter</a:t>
            </a:r>
            <a:endParaRPr lang="zh-CN" altLang="en-US" b="1" i="1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133600" y="1791408"/>
            <a:ext cx="1219200" cy="982272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905000" y="1791408"/>
            <a:ext cx="1447800" cy="296472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52800" y="1329743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/>
              <a:t>Constructor</a:t>
            </a:r>
            <a:br>
              <a:rPr lang="en-US" altLang="zh-CN" b="1" i="1" dirty="0" smtClean="0"/>
            </a:br>
            <a:r>
              <a:rPr lang="en-US" altLang="zh-CN" b="1" i="1" dirty="0" smtClean="0"/>
              <a:t>Signature-&gt;name and parameter list</a:t>
            </a:r>
            <a:endParaRPr lang="zh-CN" altLang="en-US" b="1" i="1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4572000" y="2667000"/>
            <a:ext cx="2590800" cy="133402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48275" y="2514600"/>
            <a:ext cx="4286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/>
              <a:t>Parameter list are called formal parameter</a:t>
            </a:r>
            <a:endParaRPr lang="zh-CN" altLang="en-US" b="1" i="1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4648200" y="5645712"/>
            <a:ext cx="1600200" cy="297888"/>
          </a:xfrm>
          <a:prstGeom prst="straightConnector1">
            <a:avLst/>
          </a:prstGeom>
          <a:ln w="476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56383" y="5486400"/>
            <a:ext cx="6766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/>
              <a:t>Actual Parameter passed must be compatible with Formal parameter</a:t>
            </a:r>
          </a:p>
          <a:p>
            <a:r>
              <a:rPr lang="en-US" altLang="zh-CN" b="1" i="1" dirty="0" smtClean="0"/>
              <a:t>If not compatible it will give error</a:t>
            </a:r>
            <a:endParaRPr lang="zh-CN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35500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: With Parameter : Call By Value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Parameters are passed using call by value.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Call by value initialized the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formal parameters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with copies of the </a:t>
            </a: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actual parameters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n"/>
            </a:pPr>
            <a:endParaRPr lang="en-US" altLang="zh-CN" sz="2400" dirty="0">
              <a:latin typeface="Georgia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n"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n"/>
            </a:pP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See the Example on the Next Slide………..</a:t>
            </a: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30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: With Parameter : Call By Value</a:t>
            </a: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04780"/>
            <a:ext cx="7207250" cy="5191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914400"/>
            <a:ext cx="5540029" cy="278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212" y="4048125"/>
            <a:ext cx="4627988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345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: With Parameter : Explanation</a:t>
            </a:r>
          </a:p>
          <a:p>
            <a:pPr marL="0" indent="0" algn="just">
              <a:buNone/>
            </a:pPr>
            <a:endParaRPr lang="en-US" altLang="zh-CN" sz="24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4098" name="Picture 2" descr="D:\CSA\ConstructorWithParame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10134600" cy="497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56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Keyword null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The keyword null is a special value used to indicate that a reference is not associated with any object.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The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Memory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associated with a variable of a reference type holds an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object reference value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If no object,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null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is the memory address of the referenced object.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33600"/>
            <a:ext cx="716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 descr="D:\CSA\nullReferen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676400"/>
            <a:ext cx="4876800" cy="471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4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Constructor : With Parameter : Call By Value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HomeWork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Create two programs </a:t>
            </a:r>
          </a:p>
          <a:p>
            <a:pPr marL="457200" indent="-457200" algn="just">
              <a:buAutoNum type="arabicPeriod"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Class Teacher With Few Attributes , Methods and Constructor—without parameter.</a:t>
            </a:r>
          </a:p>
          <a:p>
            <a:pPr marL="457200" indent="-457200" algn="just">
              <a:buAutoNum type="arabicPeriod"/>
            </a:pPr>
            <a:r>
              <a:rPr lang="en-US" altLang="zh-CN" sz="2400" b="1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Class Teacher With 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few Attributes, Methods and Constructor –With parameters.</a:t>
            </a: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91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Quiz:  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-&gt;C</a:t>
            </a: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98170"/>
            <a:ext cx="7239000" cy="5497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1004944"/>
            <a:ext cx="2133600" cy="227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45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Creating and Storing Objects(Instantiation)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Quiz:  </a:t>
            </a:r>
          </a:p>
          <a:p>
            <a:pPr marL="0" indent="0" algn="just">
              <a:buNone/>
            </a:pPr>
            <a:r>
              <a:rPr lang="en-US" altLang="zh-CN" sz="24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-&gt;D</a:t>
            </a: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57200"/>
            <a:ext cx="8839200" cy="569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172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Calling a 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29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Call non-static void methods without parameters.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An object’s behavior refers to what the object can do and is defined by methods.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Programmers doesn’t need how the method was written, they can use the method if the have the object of the class.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A </a:t>
            </a:r>
            <a:r>
              <a:rPr lang="en-US" altLang="zh-C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Times New Roman" pitchFamily="18" charset="0"/>
              </a:rPr>
              <a:t>method signature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 for a method without parameters consists of the 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 name and empty parameter list.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Example: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                   </a:t>
            </a:r>
          </a:p>
          <a:p>
            <a:pPr algn="just">
              <a:buFont typeface="Wingdings" pitchFamily="2" charset="2"/>
              <a:buChar char="n"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581400"/>
            <a:ext cx="6105525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3962400" y="3200400"/>
            <a:ext cx="0" cy="4572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05200" y="2853702"/>
            <a:ext cx="680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type can be: void , </a:t>
            </a:r>
            <a:r>
              <a:rPr lang="en-US" altLang="zh-CN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, double, string or other reference type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5638800" y="3733800"/>
            <a:ext cx="990600" cy="1371600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29400" y="5105400"/>
            <a:ext cx="3500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name without parameters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462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Calling a 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Method or constructor call interrupts the sequential execution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All the statements in Java program are executed sequentially but the moment we call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or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constructors,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The sequential execution of the statements stops causing the program to first execute the statements in the method or constructor before continuing.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Once the last statement in the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or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constructor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has executed or a return statement is executed, flow of the control is returned to the point immediately following where the method or constructor was called.</a:t>
            </a:r>
          </a:p>
          <a:p>
            <a:pPr algn="just">
              <a:buFont typeface="Wingdings" pitchFamily="2" charset="2"/>
              <a:buChar char="n"/>
            </a:pPr>
            <a:endParaRPr lang="en-US" altLang="zh-CN" sz="2000" dirty="0">
              <a:latin typeface="Georgia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n"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See the Example on the next Slide…………</a:t>
            </a:r>
            <a:r>
              <a:rPr lang="en-US" altLang="zh-CN" sz="2400" dirty="0" smtClean="0">
                <a:latin typeface="Georgia" pitchFamily="18" charset="0"/>
                <a:cs typeface="Times New Roman" pitchFamily="18" charset="0"/>
              </a:rPr>
              <a:t> </a:t>
            </a: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2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Calling a 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smtClean="0">
                <a:latin typeface="Georgia" pitchFamily="18" charset="0"/>
                <a:cs typeface="Times New Roman" pitchFamily="18" charset="0"/>
              </a:rPr>
              <a:t>Method or constructor call interrupts the sequential execution</a:t>
            </a: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1" y="914400"/>
            <a:ext cx="5327649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1" y="943824"/>
            <a:ext cx="7377966" cy="5152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1295400" y="3733800"/>
            <a:ext cx="1981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971800" y="3352800"/>
            <a:ext cx="609600" cy="167112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81400" y="3163669"/>
            <a:ext cx="3702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Signature-&gt;  name, no parameter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/>
          <p:cNvCxnSpPr>
            <a:stCxn id="18" idx="1"/>
          </p:cNvCxnSpPr>
          <p:nvPr/>
        </p:nvCxnSpPr>
        <p:spPr>
          <a:xfrm flipH="1">
            <a:off x="2895600" y="4893677"/>
            <a:ext cx="1219200" cy="211723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0" y="4724400"/>
            <a:ext cx="4154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Goes to constructor before moving to next line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1" name="Straight Arrow Connector 20"/>
          <p:cNvCxnSpPr>
            <a:stCxn id="25" idx="1"/>
          </p:cNvCxnSpPr>
          <p:nvPr/>
        </p:nvCxnSpPr>
        <p:spPr>
          <a:xfrm flipH="1">
            <a:off x="3124200" y="5274677"/>
            <a:ext cx="1066800" cy="59323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91000" y="5105400"/>
            <a:ext cx="3844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Goes to method before moving to next line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1371600" y="5791200"/>
            <a:ext cx="381000" cy="1524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28800" y="5791200"/>
            <a:ext cx="5803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dot operator is used along with object to call non-static methods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30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Calling a 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b="1" u="sng" dirty="0" err="1" smtClean="0">
                <a:latin typeface="Georgia" pitchFamily="18" charset="0"/>
                <a:cs typeface="Times New Roman" pitchFamily="18" charset="0"/>
              </a:rPr>
              <a:t>NullPointerException</a:t>
            </a:r>
            <a:endParaRPr lang="en-US" altLang="zh-CN" sz="24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400"/>
            <a:ext cx="79629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914400"/>
            <a:ext cx="5746781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635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Void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with Parameters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 Signature of a Method with Parameters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A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 signature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for a method with parameters consists of the method name and the ordered list of parameter types.</a:t>
            </a: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90675"/>
            <a:ext cx="7772399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419600"/>
            <a:ext cx="59912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>
            <a:stCxn id="8" idx="1"/>
          </p:cNvCxnSpPr>
          <p:nvPr/>
        </p:nvCxnSpPr>
        <p:spPr>
          <a:xfrm flipH="1">
            <a:off x="1752600" y="2318266"/>
            <a:ext cx="2209799" cy="653534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62399" y="2133600"/>
            <a:ext cx="654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signature consists of name and ordered list of parameters 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429000" y="2438400"/>
            <a:ext cx="533399" cy="5334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06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Void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with Parameters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 Signature of a Method with Parameters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Values provided in the parameter list need to correspond to the order and type in the method signature.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89154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>
            <a:off x="5105400" y="5181600"/>
            <a:ext cx="838200" cy="1524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6617" y="4888468"/>
            <a:ext cx="3187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 values are not in the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as defined by method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Signature. It’s ERROR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19200"/>
            <a:ext cx="62484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112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Void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with Parameters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Method Signature of a Method with Parameters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Values provided in the parameter list need to correspond to the order and type in the method signature.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9677400" cy="5073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096000" y="4643735"/>
            <a:ext cx="33350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 type does not match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defined by method Signature. 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It’s ERROR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572000" y="4953000"/>
            <a:ext cx="1447800" cy="3048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7" y="1219200"/>
            <a:ext cx="6824663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385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Void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with Parameters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What is Overloading?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Objects having more than one form is called overloading.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In Java Overloading is achieved by Method Overloading or Constructor Overloading.</a:t>
            </a:r>
          </a:p>
          <a:p>
            <a:pPr algn="just">
              <a:buFont typeface="Wingdings" pitchFamily="2" charset="2"/>
              <a:buChar char="n"/>
            </a:pPr>
            <a:endParaRPr lang="en-US" altLang="zh-CN" sz="2000" dirty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dirty="0" smtClean="0">
                <a:latin typeface="Georgia" pitchFamily="18" charset="0"/>
                <a:cs typeface="Times New Roman" pitchFamily="18" charset="0"/>
              </a:rPr>
              <a:t>What is Method Overloading?</a:t>
            </a:r>
          </a:p>
          <a:p>
            <a:pPr marL="0" indent="0" algn="just">
              <a:buNone/>
            </a:pP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Using the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same method name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for more than once in a program is called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Method overloading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marL="0" indent="0" algn="just">
              <a:buNone/>
            </a:pPr>
            <a:r>
              <a:rPr lang="en-US" altLang="zh-CN" sz="2000" b="1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Overloaded Methods must have same name but different method signature.</a:t>
            </a:r>
          </a:p>
          <a:p>
            <a:pPr marL="0" indent="0" algn="just">
              <a:buNone/>
            </a:pPr>
            <a:endParaRPr lang="en-US" altLang="zh-CN" sz="2000" b="1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b="1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altLang="zh-CN" sz="2000" b="1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What is Constructor Overloading?</a:t>
            </a:r>
          </a:p>
          <a:p>
            <a:pPr marL="0" indent="0" algn="just">
              <a:buNone/>
            </a:pP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Ans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 Using more than one constructor in the given class is called </a:t>
            </a: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Constructor Overloading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marL="0" indent="0" algn="just">
              <a:buNone/>
            </a:pPr>
            <a:r>
              <a:rPr lang="en-US" altLang="zh-CN" sz="2000" dirty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           </a:t>
            </a:r>
            <a:r>
              <a:rPr lang="en-US" altLang="zh-CN" sz="2000" b="1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Overloaded Constructors must have same name but different signature.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77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Void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with Parameters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Overloaded Method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Methods are said to be overloaded when there are multiple methods with the same name but a different signature.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55700"/>
            <a:ext cx="8458200" cy="524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3657600" y="1600200"/>
            <a:ext cx="3657600" cy="4572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505200" y="1600200"/>
            <a:ext cx="3810000" cy="13716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505200" y="1600200"/>
            <a:ext cx="3733800" cy="217805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0" y="1371600"/>
            <a:ext cx="4286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Method name is same but signature is 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638800" y="5105400"/>
            <a:ext cx="1524000" cy="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886200" y="5105400"/>
            <a:ext cx="3276600" cy="6858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891481" y="5105400"/>
            <a:ext cx="3271319" cy="91440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39000" y="5029200"/>
            <a:ext cx="560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Actual Parameter Must Match the Formal Parameter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Left Brace 27"/>
          <p:cNvSpPr/>
          <p:nvPr/>
        </p:nvSpPr>
        <p:spPr>
          <a:xfrm>
            <a:off x="2209800" y="5334000"/>
            <a:ext cx="152400" cy="381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1828800" y="5619750"/>
            <a:ext cx="427022" cy="17145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TextBox 1026"/>
          <p:cNvSpPr txBox="1"/>
          <p:nvPr/>
        </p:nvSpPr>
        <p:spPr>
          <a:xfrm>
            <a:off x="0" y="5105400"/>
            <a:ext cx="20378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Actual parameter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match to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Formal parameter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It’s ERROR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555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Non-Void Method with parameter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Non-Static and Non-void methods return some value , the return value can be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, double or String.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877252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3581400" y="1905000"/>
            <a:ext cx="2133600" cy="4572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91200" y="1676400"/>
            <a:ext cx="5635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method returns value , the return value is of </a:t>
            </a:r>
            <a:r>
              <a:rPr lang="en-US" altLang="zh-CN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type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334000" y="4800600"/>
            <a:ext cx="190500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0" y="4648200"/>
            <a:ext cx="5057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Since add method returns value , you need to store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923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39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Non-Void Method without parameter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Non-Static and Non-void methods return some value , the return value can be </a:t>
            </a:r>
            <a:r>
              <a:rPr lang="en-US" altLang="zh-CN" sz="2000" dirty="0" err="1" smtClean="0">
                <a:latin typeface="Georgia" pitchFamily="18" charset="0"/>
                <a:cs typeface="Times New Roman" pitchFamily="18" charset="0"/>
              </a:rPr>
              <a:t>int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, double or String.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1219200"/>
            <a:ext cx="8562975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4419600" y="2895600"/>
            <a:ext cx="1752600" cy="3048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48400" y="2667000"/>
            <a:ext cx="605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methods accepts no parameters but it return String value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810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A method can be called from with another method without using object</a:t>
            </a:r>
          </a:p>
          <a:p>
            <a:pPr marL="0" indent="0" algn="just">
              <a:buNone/>
            </a:pP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990599"/>
            <a:ext cx="12392025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3200400" y="4419600"/>
            <a:ext cx="4114800" cy="381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0" y="4191000"/>
            <a:ext cx="483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not call Instance method from static method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Straight Arrow Connector 11"/>
          <p:cNvCxnSpPr>
            <a:stCxn id="13" idx="1"/>
          </p:cNvCxnSpPr>
          <p:nvPr/>
        </p:nvCxnSpPr>
        <p:spPr>
          <a:xfrm flipH="1" flipV="1">
            <a:off x="3048000" y="2514600"/>
            <a:ext cx="2743200" cy="4374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91200" y="2628900"/>
            <a:ext cx="664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need to use object to call method from another within the class.</a:t>
            </a:r>
          </a:p>
          <a:p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method from main method, you need object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048250"/>
            <a:ext cx="6524625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767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Static Method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Static Method are called as class level method and there is only one copy of Static method in the memory</a:t>
            </a:r>
          </a:p>
          <a:p>
            <a:pPr algn="just">
              <a:buFont typeface="Wingdings" pitchFamily="2" charset="2"/>
              <a:buChar char="n"/>
            </a:pPr>
            <a:r>
              <a:rPr lang="en-US" altLang="zh-CN" sz="1600" dirty="0" smtClean="0">
                <a:latin typeface="Georgia" pitchFamily="18" charset="0"/>
                <a:cs typeface="Times New Roman" pitchFamily="18" charset="0"/>
              </a:rPr>
              <a:t>Static Method can be called using </a:t>
            </a:r>
            <a:r>
              <a:rPr lang="en-US" altLang="zh-CN" sz="1600" b="1" u="sng" dirty="0" err="1" smtClean="0">
                <a:latin typeface="Georgia" pitchFamily="18" charset="0"/>
                <a:cs typeface="Times New Roman" pitchFamily="18" charset="0"/>
              </a:rPr>
              <a:t>classname.methodname</a:t>
            </a:r>
            <a:r>
              <a:rPr lang="en-US" altLang="zh-CN" sz="1600" b="1" u="sng" dirty="0" smtClean="0">
                <a:latin typeface="Georgia" pitchFamily="18" charset="0"/>
                <a:cs typeface="Times New Roman" pitchFamily="18" charset="0"/>
              </a:rPr>
              <a:t>()</a:t>
            </a:r>
            <a:r>
              <a:rPr lang="en-US" altLang="zh-CN" sz="1600" dirty="0" smtClean="0">
                <a:latin typeface="Georgia" pitchFamily="18" charset="0"/>
                <a:cs typeface="Times New Roman" pitchFamily="18" charset="0"/>
              </a:rPr>
              <a:t>, there is no need to use object to call static method</a:t>
            </a:r>
            <a:r>
              <a:rPr lang="en-US" altLang="zh-CN" sz="2000" dirty="0" smtClean="0">
                <a:latin typeface="Georgia" pitchFamily="18" charset="0"/>
                <a:cs typeface="Times New Roman" pitchFamily="18" charset="0"/>
              </a:rPr>
              <a:t> method. </a:t>
            </a:r>
          </a:p>
          <a:p>
            <a:pPr marL="0" indent="0" algn="just">
              <a:buNone/>
            </a:pPr>
            <a:r>
              <a:rPr lang="en-US" altLang="zh-CN" sz="2000" dirty="0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1619250"/>
            <a:ext cx="6337300" cy="455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00200"/>
            <a:ext cx="632460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038475"/>
            <a:ext cx="5953125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428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Static Method</a:t>
            </a: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5122" name="Picture 2" descr="D:\CSA\Staic_MethodandStatic_Variab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82600"/>
            <a:ext cx="6019800" cy="591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4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D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57200"/>
            <a:ext cx="74676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458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7200"/>
            <a:ext cx="7010400" cy="5634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32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C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33400"/>
            <a:ext cx="709612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533400"/>
            <a:ext cx="3000375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821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33400"/>
            <a:ext cx="75438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6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E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552450"/>
            <a:ext cx="7143750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860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04825"/>
            <a:ext cx="8467725" cy="543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2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49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B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685800"/>
            <a:ext cx="851535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250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D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4" y="914400"/>
            <a:ext cx="9591675" cy="387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46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QUIZ: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E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20700"/>
            <a:ext cx="6400800" cy="549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202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52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D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799" y="1219200"/>
            <a:ext cx="10332053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008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53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066800"/>
            <a:ext cx="8991600" cy="3762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29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54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C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33400"/>
            <a:ext cx="73914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79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55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904875"/>
            <a:ext cx="10839450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5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56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D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838201"/>
            <a:ext cx="1122045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3581400"/>
            <a:ext cx="3681351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292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57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E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990600"/>
            <a:ext cx="9382125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871538"/>
            <a:ext cx="2257425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766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58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HomeWork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C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990600"/>
            <a:ext cx="9644062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93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59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Home Work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A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952500"/>
            <a:ext cx="10629900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031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60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Home Work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C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43000"/>
            <a:ext cx="95250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55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15"/>
            <a:ext cx="11521440" cy="429470"/>
          </a:xfrm>
          <a:solidFill>
            <a:schemeClr val="tx1">
              <a:lumMod val="95000"/>
              <a:lumOff val="5000"/>
            </a:schemeClr>
          </a:solidFill>
        </p:spPr>
        <p:txBody>
          <a:bodyPr vert="horz" lIns="91432" tIns="45716" rIns="91432" bIns="45716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2.5 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a </a:t>
            </a:r>
            <a:r>
              <a:rPr lang="en-US" altLang="zh-CN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NON-Void Method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Akash S. Pathak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H14Z </a:t>
            </a:r>
            <a:fld id="{5D617C44-B3AA-4DFF-AD16-AF5172FF7244}" type="slidenum">
              <a:rPr lang="zh-CN" altLang="en-US" smtClean="0">
                <a:solidFill>
                  <a:schemeClr val="tx1"/>
                </a:solidFill>
              </a:rPr>
              <a:pPr/>
              <a:t>61</a:t>
            </a:fld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12663535" cy="5915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u="sng" dirty="0" smtClean="0">
                <a:latin typeface="Georgia" pitchFamily="18" charset="0"/>
                <a:cs typeface="Times New Roman" pitchFamily="18" charset="0"/>
              </a:rPr>
              <a:t>More Practice QUIZ: Home Work</a:t>
            </a:r>
          </a:p>
          <a:p>
            <a:pPr marL="0" indent="0" algn="just">
              <a:buNone/>
            </a:pP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</a:rPr>
              <a:t>Ans</a:t>
            </a:r>
            <a:r>
              <a:rPr lang="en-US" altLang="zh-CN" sz="2000" b="1" u="sng" dirty="0" err="1" smtClean="0">
                <a:latin typeface="Georgia" pitchFamily="18" charset="0"/>
                <a:cs typeface="Times New Roman" pitchFamily="18" charset="0"/>
                <a:sym typeface="Wingdings" pitchFamily="2" charset="2"/>
              </a:rPr>
              <a:t>C</a:t>
            </a:r>
            <a:endParaRPr lang="en-US" altLang="zh-CN" sz="2000" b="1" u="sng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endParaRPr lang="en-US" altLang="zh-CN" sz="2000" dirty="0" smtClean="0">
              <a:latin typeface="Georgia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66800"/>
            <a:ext cx="8677275" cy="439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60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lligraphy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ligraphy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lligraphy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2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32744</TotalTime>
  <Words>2136</Words>
  <Application>Microsoft Office PowerPoint</Application>
  <PresentationFormat>Custom</PresentationFormat>
  <Paragraphs>529</Paragraphs>
  <Slides>61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Calligraphy</vt:lpstr>
      <vt:lpstr>Computer Science A</vt:lpstr>
      <vt:lpstr>OBJECTIVE</vt:lpstr>
      <vt:lpstr>UNIT at a Glance</vt:lpstr>
      <vt:lpstr>UNIT at a Glance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2.1 Objects: Instances of classes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2.2 Creating and Storing Objects(Instantiation)</vt:lpstr>
      <vt:lpstr>2.3 Calling a Void Method</vt:lpstr>
      <vt:lpstr>2.3 Calling a Void Method</vt:lpstr>
      <vt:lpstr>2.3 Calling a Void Method</vt:lpstr>
      <vt:lpstr>2.3 Calling a Void Method</vt:lpstr>
      <vt:lpstr>2.4 Calling a Void Method with Parameters</vt:lpstr>
      <vt:lpstr>2.4 Calling a Void Method with Parameters</vt:lpstr>
      <vt:lpstr>2.4 Calling a Void Method with Parameters</vt:lpstr>
      <vt:lpstr>2.4 Calling a Void Method with Parameters</vt:lpstr>
      <vt:lpstr>2.4 Calling a Void Method with Parameters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  <vt:lpstr>2.5 Calling a NON-Void Method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lenovo</dc:creator>
  <cp:lastModifiedBy>lenovo</cp:lastModifiedBy>
  <cp:revision>655</cp:revision>
  <dcterms:created xsi:type="dcterms:W3CDTF">2021-04-30T06:53:03Z</dcterms:created>
  <dcterms:modified xsi:type="dcterms:W3CDTF">2025-09-02T05:54:30Z</dcterms:modified>
</cp:coreProperties>
</file>